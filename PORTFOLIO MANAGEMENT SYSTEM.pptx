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elvetica World" charset="1" panose="020B0500040000020004"/>
      <p:regular r:id="rId12"/>
    </p:embeddedFont>
    <p:embeddedFont>
      <p:font typeface="Telegraf Bold" charset="1" panose="00000800000000000000"/>
      <p:regular r:id="rId13"/>
    </p:embeddedFont>
    <p:embeddedFont>
      <p:font typeface="Helvetica World Bold" charset="1" panose="020B0800040000020004"/>
      <p:regular r:id="rId14"/>
    </p:embeddedFont>
    <p:embeddedFont>
      <p:font typeface="Poppins Bold" charset="1" panose="00000800000000000000"/>
      <p:regular r:id="rId15"/>
    </p:embeddedFont>
    <p:embeddedFont>
      <p:font typeface="Telegraf" charset="1" panose="00000500000000000000"/>
      <p:regular r:id="rId16"/>
    </p:embeddedFont>
    <p:embeddedFont>
      <p:font typeface="Canva Sans Bold" charset="1" panose="020B0803030501040103"/>
      <p:regular r:id="rId17"/>
    </p:embeddedFont>
    <p:embeddedFont>
      <p:font typeface="Telegraf Medium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0.png" Type="http://schemas.openxmlformats.org/officeDocument/2006/relationships/image"/><Relationship Id="rId13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6.pn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17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F0828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96695" y="8202937"/>
            <a:ext cx="89192" cy="969146"/>
            <a:chOff x="0" y="0"/>
            <a:chExt cx="23491" cy="255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91" cy="255248"/>
            </a:xfrm>
            <a:custGeom>
              <a:avLst/>
              <a:gdLst/>
              <a:ahLst/>
              <a:cxnLst/>
              <a:rect r="r" b="b" t="t" l="l"/>
              <a:pathLst>
                <a:path h="255248" w="23491">
                  <a:moveTo>
                    <a:pt x="11745" y="0"/>
                  </a:moveTo>
                  <a:lnTo>
                    <a:pt x="11745" y="0"/>
                  </a:lnTo>
                  <a:cubicBezTo>
                    <a:pt x="14861" y="0"/>
                    <a:pt x="17848" y="1237"/>
                    <a:pt x="20051" y="3440"/>
                  </a:cubicBezTo>
                  <a:cubicBezTo>
                    <a:pt x="22253" y="5643"/>
                    <a:pt x="23491" y="8630"/>
                    <a:pt x="23491" y="11745"/>
                  </a:cubicBezTo>
                  <a:lnTo>
                    <a:pt x="23491" y="243503"/>
                  </a:lnTo>
                  <a:cubicBezTo>
                    <a:pt x="23491" y="246618"/>
                    <a:pt x="22253" y="249605"/>
                    <a:pt x="20051" y="251808"/>
                  </a:cubicBezTo>
                  <a:cubicBezTo>
                    <a:pt x="17848" y="254011"/>
                    <a:pt x="14861" y="255248"/>
                    <a:pt x="11745" y="255248"/>
                  </a:cubicBezTo>
                  <a:lnTo>
                    <a:pt x="11745" y="255248"/>
                  </a:lnTo>
                  <a:cubicBezTo>
                    <a:pt x="8630" y="255248"/>
                    <a:pt x="5643" y="254011"/>
                    <a:pt x="3440" y="251808"/>
                  </a:cubicBezTo>
                  <a:cubicBezTo>
                    <a:pt x="1237" y="249605"/>
                    <a:pt x="0" y="246618"/>
                    <a:pt x="0" y="243503"/>
                  </a:cubicBezTo>
                  <a:lnTo>
                    <a:pt x="0" y="11745"/>
                  </a:lnTo>
                  <a:cubicBezTo>
                    <a:pt x="0" y="8630"/>
                    <a:pt x="1237" y="5643"/>
                    <a:pt x="3440" y="3440"/>
                  </a:cubicBezTo>
                  <a:cubicBezTo>
                    <a:pt x="5643" y="1237"/>
                    <a:pt x="8630" y="0"/>
                    <a:pt x="11745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491" cy="293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908586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0" y="0"/>
                </a:moveTo>
                <a:lnTo>
                  <a:pt x="222105" y="0"/>
                </a:lnTo>
                <a:lnTo>
                  <a:pt x="222105" y="172434"/>
                </a:lnTo>
                <a:lnTo>
                  <a:pt x="0" y="17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94351" y="4843462"/>
            <a:ext cx="593981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spc="-11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3-Tier Web 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06385" y="2121851"/>
            <a:ext cx="11475230" cy="217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 spc="-396">
                <a:solidFill>
                  <a:srgbClr val="474F51"/>
                </a:solidFill>
                <a:latin typeface="Telegraf Bold"/>
                <a:ea typeface="Telegraf Bold"/>
                <a:cs typeface="Telegraf Bold"/>
                <a:sym typeface="Telegraf Bold"/>
              </a:rPr>
              <a:t>PORTFOLIO 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89320" y="5907635"/>
            <a:ext cx="10709360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 spc="-89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Portfolio Management System is a web-based application that centralizes security data, manages investment portfolios, monitors asset allocation, generates rebalancing alerts, and compares portfolio performance with the NIFTY 50 benchmark.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1867" y="8143383"/>
            <a:ext cx="304533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spc="-101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Hema Meena R</a:t>
            </a:r>
          </a:p>
          <a:p>
            <a:pPr algn="l">
              <a:lnSpc>
                <a:spcPts val="4079"/>
              </a:lnSpc>
            </a:pPr>
            <a:r>
              <a:rPr lang="en-US" sz="3399" spc="-101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Jayashri 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F0828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8286235" y="1105662"/>
            <a:ext cx="47625" cy="2932034"/>
            <a:chOff x="0" y="0"/>
            <a:chExt cx="12543" cy="772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772223"/>
            </a:xfrm>
            <a:custGeom>
              <a:avLst/>
              <a:gdLst/>
              <a:ahLst/>
              <a:cxnLst/>
              <a:rect r="r" b="b" t="t" l="l"/>
              <a:pathLst>
                <a:path h="77222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765951"/>
                  </a:lnTo>
                  <a:cubicBezTo>
                    <a:pt x="12543" y="767615"/>
                    <a:pt x="11882" y="769210"/>
                    <a:pt x="10706" y="770386"/>
                  </a:cubicBezTo>
                  <a:cubicBezTo>
                    <a:pt x="9530" y="771562"/>
                    <a:pt x="7935" y="772223"/>
                    <a:pt x="6272" y="772223"/>
                  </a:cubicBezTo>
                  <a:lnTo>
                    <a:pt x="6272" y="772223"/>
                  </a:lnTo>
                  <a:cubicBezTo>
                    <a:pt x="4608" y="772223"/>
                    <a:pt x="3013" y="771562"/>
                    <a:pt x="1837" y="770386"/>
                  </a:cubicBezTo>
                  <a:cubicBezTo>
                    <a:pt x="661" y="769210"/>
                    <a:pt x="0" y="767615"/>
                    <a:pt x="0" y="765951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43" cy="810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9085866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0" y="0"/>
                </a:moveTo>
                <a:lnTo>
                  <a:pt x="222105" y="0"/>
                </a:lnTo>
                <a:lnTo>
                  <a:pt x="222105" y="172434"/>
                </a:lnTo>
                <a:lnTo>
                  <a:pt x="0" y="17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10100" y="1457549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065999" y="2704695"/>
            <a:ext cx="5417608" cy="4062719"/>
            <a:chOff x="0" y="0"/>
            <a:chExt cx="7223477" cy="541695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223477" cy="5416959"/>
              <a:chOff x="0" y="0"/>
              <a:chExt cx="1426860" cy="107001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26860" cy="1070017"/>
              </a:xfrm>
              <a:custGeom>
                <a:avLst/>
                <a:gdLst/>
                <a:ahLst/>
                <a:cxnLst/>
                <a:rect r="r" b="b" t="t" l="l"/>
                <a:pathLst>
                  <a:path h="1070017" w="1426860">
                    <a:moveTo>
                      <a:pt x="42871" y="0"/>
                    </a:moveTo>
                    <a:lnTo>
                      <a:pt x="1383989" y="0"/>
                    </a:lnTo>
                    <a:cubicBezTo>
                      <a:pt x="1407666" y="0"/>
                      <a:pt x="1426860" y="19194"/>
                      <a:pt x="1426860" y="42871"/>
                    </a:cubicBezTo>
                    <a:lnTo>
                      <a:pt x="1426860" y="1027146"/>
                    </a:lnTo>
                    <a:cubicBezTo>
                      <a:pt x="1426860" y="1050823"/>
                      <a:pt x="1407666" y="1070017"/>
                      <a:pt x="1383989" y="1070017"/>
                    </a:cubicBezTo>
                    <a:lnTo>
                      <a:pt x="42871" y="1070017"/>
                    </a:lnTo>
                    <a:cubicBezTo>
                      <a:pt x="19194" y="1070017"/>
                      <a:pt x="0" y="1050823"/>
                      <a:pt x="0" y="1027146"/>
                    </a:cubicBezTo>
                    <a:lnTo>
                      <a:pt x="0" y="42871"/>
                    </a:lnTo>
                    <a:cubicBezTo>
                      <a:pt x="0" y="19194"/>
                      <a:pt x="19194" y="0"/>
                      <a:pt x="428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426860" cy="1108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8587" y="1103485"/>
              <a:ext cx="6500814" cy="419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Login to the application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View </a:t>
              </a: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portfolio dashboard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Search securities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Create and activate portfolios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Buy and sell securities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View holdings and transactions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Monitor asset allocation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View alerts and rebalancing suggestions</a:t>
              </a:r>
            </a:p>
            <a:p>
              <a:pPr algn="just" marL="453387" indent="-226693" lvl="1">
                <a:lnSpc>
                  <a:spcPts val="2519"/>
                </a:lnSpc>
                <a:buFont typeface="Arial"/>
                <a:buChar char="•"/>
              </a:pP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Comp</a:t>
              </a:r>
              <a:r>
                <a:rPr lang="en-US" sz="2099" spc="-62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are portfolio return with NIFTY 50</a:t>
              </a:r>
            </a:p>
            <a:p>
              <a:pPr algn="just">
                <a:lnSpc>
                  <a:spcPts val="2519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20356" y="497031"/>
              <a:ext cx="5717277" cy="421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9"/>
                </a:lnSpc>
              </a:pPr>
              <a:r>
                <a:rPr lang="en-US" b="true" sz="1899" spc="-5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FUND MANAGER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true" flipV="true" rot="0">
            <a:off x="16157943" y="4032404"/>
            <a:ext cx="222105" cy="172434"/>
          </a:xfrm>
          <a:custGeom>
            <a:avLst/>
            <a:gdLst/>
            <a:ahLst/>
            <a:cxnLst/>
            <a:rect r="r" b="b" t="t" l="l"/>
            <a:pathLst>
              <a:path h="172434" w="222105">
                <a:moveTo>
                  <a:pt x="222105" y="172434"/>
                </a:moveTo>
                <a:lnTo>
                  <a:pt x="0" y="172434"/>
                </a:lnTo>
                <a:lnTo>
                  <a:pt x="0" y="0"/>
                </a:lnTo>
                <a:lnTo>
                  <a:pt x="222105" y="0"/>
                </a:lnTo>
                <a:lnTo>
                  <a:pt x="222105" y="1724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785549" y="6876617"/>
            <a:ext cx="2762493" cy="2435944"/>
            <a:chOff x="0" y="0"/>
            <a:chExt cx="949068" cy="836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9068" cy="836880"/>
            </a:xfrm>
            <a:custGeom>
              <a:avLst/>
              <a:gdLst/>
              <a:ahLst/>
              <a:cxnLst/>
              <a:rect r="r" b="b" t="t" l="l"/>
              <a:pathLst>
                <a:path h="836880" w="949068">
                  <a:moveTo>
                    <a:pt x="142928" y="0"/>
                  </a:moveTo>
                  <a:lnTo>
                    <a:pt x="806140" y="0"/>
                  </a:lnTo>
                  <a:cubicBezTo>
                    <a:pt x="844047" y="0"/>
                    <a:pt x="880401" y="15058"/>
                    <a:pt x="907205" y="41863"/>
                  </a:cubicBezTo>
                  <a:cubicBezTo>
                    <a:pt x="934009" y="68667"/>
                    <a:pt x="949068" y="105021"/>
                    <a:pt x="949068" y="142928"/>
                  </a:cubicBezTo>
                  <a:lnTo>
                    <a:pt x="949068" y="693952"/>
                  </a:lnTo>
                  <a:cubicBezTo>
                    <a:pt x="949068" y="731859"/>
                    <a:pt x="934009" y="768214"/>
                    <a:pt x="907205" y="795018"/>
                  </a:cubicBezTo>
                  <a:cubicBezTo>
                    <a:pt x="880401" y="821822"/>
                    <a:pt x="844047" y="836880"/>
                    <a:pt x="806140" y="836880"/>
                  </a:cubicBezTo>
                  <a:lnTo>
                    <a:pt x="142928" y="836880"/>
                  </a:lnTo>
                  <a:cubicBezTo>
                    <a:pt x="63991" y="836880"/>
                    <a:pt x="0" y="772889"/>
                    <a:pt x="0" y="693952"/>
                  </a:cubicBezTo>
                  <a:lnTo>
                    <a:pt x="0" y="142928"/>
                  </a:lnTo>
                  <a:cubicBezTo>
                    <a:pt x="0" y="63991"/>
                    <a:pt x="63991" y="0"/>
                    <a:pt x="1429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49068" cy="894030"/>
            </a:xfrm>
            <a:prstGeom prst="rect">
              <a:avLst/>
            </a:prstGeom>
          </p:spPr>
          <p:txBody>
            <a:bodyPr anchor="ctr" rtlCol="false" tIns="38944" lIns="38944" bIns="38944" rIns="38944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928383" y="8073210"/>
            <a:ext cx="2555466" cy="32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5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578917" y="7407361"/>
            <a:ext cx="1254397" cy="1170010"/>
          </a:xfrm>
          <a:custGeom>
            <a:avLst/>
            <a:gdLst/>
            <a:ahLst/>
            <a:cxnLst/>
            <a:rect r="r" b="b" t="t" l="l"/>
            <a:pathLst>
              <a:path h="1170010" w="1254397">
                <a:moveTo>
                  <a:pt x="0" y="0"/>
                </a:moveTo>
                <a:lnTo>
                  <a:pt x="1254397" y="0"/>
                </a:lnTo>
                <a:lnTo>
                  <a:pt x="1254397" y="1170010"/>
                </a:lnTo>
                <a:lnTo>
                  <a:pt x="0" y="1170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7121906" y="6876617"/>
            <a:ext cx="2754597" cy="2428981"/>
            <a:chOff x="0" y="0"/>
            <a:chExt cx="949068" cy="83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9068" cy="836880"/>
            </a:xfrm>
            <a:custGeom>
              <a:avLst/>
              <a:gdLst/>
              <a:ahLst/>
              <a:cxnLst/>
              <a:rect r="r" b="b" t="t" l="l"/>
              <a:pathLst>
                <a:path h="836880" w="949068">
                  <a:moveTo>
                    <a:pt x="143338" y="0"/>
                  </a:moveTo>
                  <a:lnTo>
                    <a:pt x="805730" y="0"/>
                  </a:lnTo>
                  <a:cubicBezTo>
                    <a:pt x="884893" y="0"/>
                    <a:pt x="949068" y="64175"/>
                    <a:pt x="949068" y="143338"/>
                  </a:cubicBezTo>
                  <a:lnTo>
                    <a:pt x="949068" y="693543"/>
                  </a:lnTo>
                  <a:cubicBezTo>
                    <a:pt x="949068" y="772706"/>
                    <a:pt x="884893" y="836880"/>
                    <a:pt x="805730" y="836880"/>
                  </a:cubicBezTo>
                  <a:lnTo>
                    <a:pt x="143338" y="836880"/>
                  </a:lnTo>
                  <a:cubicBezTo>
                    <a:pt x="64175" y="836880"/>
                    <a:pt x="0" y="772706"/>
                    <a:pt x="0" y="693543"/>
                  </a:cubicBezTo>
                  <a:lnTo>
                    <a:pt x="0" y="143338"/>
                  </a:lnTo>
                  <a:cubicBezTo>
                    <a:pt x="0" y="64175"/>
                    <a:pt x="64175" y="0"/>
                    <a:pt x="1433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49068" cy="894030"/>
            </a:xfrm>
            <a:prstGeom prst="rect">
              <a:avLst/>
            </a:prstGeom>
          </p:spPr>
          <p:txBody>
            <a:bodyPr anchor="ctr" rtlCol="false" tIns="38833" lIns="38833" bIns="38833" rIns="38833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899192" y="7384807"/>
            <a:ext cx="1249114" cy="1249114"/>
          </a:xfrm>
          <a:custGeom>
            <a:avLst/>
            <a:gdLst/>
            <a:ahLst/>
            <a:cxnLst/>
            <a:rect r="r" b="b" t="t" l="l"/>
            <a:pathLst>
              <a:path h="1249114" w="1249114">
                <a:moveTo>
                  <a:pt x="0" y="0"/>
                </a:moveTo>
                <a:lnTo>
                  <a:pt x="1249113" y="0"/>
                </a:lnTo>
                <a:lnTo>
                  <a:pt x="1249113" y="1249114"/>
                </a:lnTo>
                <a:lnTo>
                  <a:pt x="0" y="12491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430801" y="6876617"/>
            <a:ext cx="2754597" cy="2428981"/>
            <a:chOff x="0" y="0"/>
            <a:chExt cx="949068" cy="83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9068" cy="836880"/>
            </a:xfrm>
            <a:custGeom>
              <a:avLst/>
              <a:gdLst/>
              <a:ahLst/>
              <a:cxnLst/>
              <a:rect r="r" b="b" t="t" l="l"/>
              <a:pathLst>
                <a:path h="836880" w="949068">
                  <a:moveTo>
                    <a:pt x="143338" y="0"/>
                  </a:moveTo>
                  <a:lnTo>
                    <a:pt x="805730" y="0"/>
                  </a:lnTo>
                  <a:cubicBezTo>
                    <a:pt x="884893" y="0"/>
                    <a:pt x="949068" y="64175"/>
                    <a:pt x="949068" y="143338"/>
                  </a:cubicBezTo>
                  <a:lnTo>
                    <a:pt x="949068" y="693543"/>
                  </a:lnTo>
                  <a:cubicBezTo>
                    <a:pt x="949068" y="772706"/>
                    <a:pt x="884893" y="836880"/>
                    <a:pt x="805730" y="836880"/>
                  </a:cubicBezTo>
                  <a:lnTo>
                    <a:pt x="143338" y="836880"/>
                  </a:lnTo>
                  <a:cubicBezTo>
                    <a:pt x="64175" y="836880"/>
                    <a:pt x="0" y="772706"/>
                    <a:pt x="0" y="693543"/>
                  </a:cubicBezTo>
                  <a:lnTo>
                    <a:pt x="0" y="143338"/>
                  </a:lnTo>
                  <a:cubicBezTo>
                    <a:pt x="0" y="64175"/>
                    <a:pt x="64175" y="0"/>
                    <a:pt x="1433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49068" cy="894030"/>
            </a:xfrm>
            <a:prstGeom prst="rect">
              <a:avLst/>
            </a:prstGeom>
          </p:spPr>
          <p:txBody>
            <a:bodyPr anchor="ctr" rtlCol="false" tIns="38833" lIns="38833" bIns="38833" rIns="38833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973864" y="2857011"/>
            <a:ext cx="5174156" cy="3910403"/>
            <a:chOff x="0" y="0"/>
            <a:chExt cx="1678551" cy="12685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78550" cy="1268576"/>
            </a:xfrm>
            <a:custGeom>
              <a:avLst/>
              <a:gdLst/>
              <a:ahLst/>
              <a:cxnLst/>
              <a:rect r="r" b="b" t="t" l="l"/>
              <a:pathLst>
                <a:path h="1268576" w="1678550">
                  <a:moveTo>
                    <a:pt x="44888" y="0"/>
                  </a:moveTo>
                  <a:lnTo>
                    <a:pt x="1633662" y="0"/>
                  </a:lnTo>
                  <a:cubicBezTo>
                    <a:pt x="1645568" y="0"/>
                    <a:pt x="1656985" y="4729"/>
                    <a:pt x="1665403" y="13147"/>
                  </a:cubicBezTo>
                  <a:cubicBezTo>
                    <a:pt x="1673821" y="21566"/>
                    <a:pt x="1678550" y="32983"/>
                    <a:pt x="1678550" y="44888"/>
                  </a:cubicBezTo>
                  <a:lnTo>
                    <a:pt x="1678550" y="1223688"/>
                  </a:lnTo>
                  <a:cubicBezTo>
                    <a:pt x="1678550" y="1235593"/>
                    <a:pt x="1673821" y="1247010"/>
                    <a:pt x="1665403" y="1255429"/>
                  </a:cubicBezTo>
                  <a:cubicBezTo>
                    <a:pt x="1656985" y="1263847"/>
                    <a:pt x="1645568" y="1268576"/>
                    <a:pt x="1633662" y="1268576"/>
                  </a:cubicBezTo>
                  <a:lnTo>
                    <a:pt x="44888" y="1268576"/>
                  </a:lnTo>
                  <a:cubicBezTo>
                    <a:pt x="32983" y="1268576"/>
                    <a:pt x="21566" y="1263847"/>
                    <a:pt x="13147" y="1255429"/>
                  </a:cubicBezTo>
                  <a:cubicBezTo>
                    <a:pt x="4729" y="1247010"/>
                    <a:pt x="0" y="1235593"/>
                    <a:pt x="0" y="1223688"/>
                  </a:cubicBezTo>
                  <a:lnTo>
                    <a:pt x="0" y="44888"/>
                  </a:lnTo>
                  <a:cubicBezTo>
                    <a:pt x="0" y="32983"/>
                    <a:pt x="4729" y="21566"/>
                    <a:pt x="13147" y="13147"/>
                  </a:cubicBezTo>
                  <a:cubicBezTo>
                    <a:pt x="21566" y="4729"/>
                    <a:pt x="32983" y="0"/>
                    <a:pt x="448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78551" cy="1306676"/>
            </a:xfrm>
            <a:prstGeom prst="rect">
              <a:avLst/>
            </a:prstGeom>
          </p:spPr>
          <p:txBody>
            <a:bodyPr anchor="ctr" rtlCol="false" tIns="41242" lIns="41242" bIns="41242" rIns="4124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0895264" y="7512281"/>
            <a:ext cx="1746430" cy="994167"/>
          </a:xfrm>
          <a:custGeom>
            <a:avLst/>
            <a:gdLst/>
            <a:ahLst/>
            <a:cxnLst/>
            <a:rect r="r" b="b" t="t" l="l"/>
            <a:pathLst>
              <a:path h="994167" w="1746430">
                <a:moveTo>
                  <a:pt x="0" y="0"/>
                </a:moveTo>
                <a:lnTo>
                  <a:pt x="1746429" y="0"/>
                </a:lnTo>
                <a:lnTo>
                  <a:pt x="1746429" y="994167"/>
                </a:lnTo>
                <a:lnTo>
                  <a:pt x="0" y="994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769083" y="6964080"/>
            <a:ext cx="2874065" cy="37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</a:pPr>
            <a:r>
              <a:rPr lang="en-US" b="true" sz="2106">
                <a:solidFill>
                  <a:srgbClr val="474F51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17545" y="8561563"/>
            <a:ext cx="1977142" cy="9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1803" b="true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React</a:t>
            </a:r>
          </a:p>
          <a:p>
            <a:pPr algn="ctr">
              <a:lnSpc>
                <a:spcPts val="2525"/>
              </a:lnSpc>
            </a:pPr>
            <a:r>
              <a:rPr lang="en-US" sz="1803" b="true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and CSS</a:t>
            </a:r>
          </a:p>
          <a:p>
            <a:pPr algn="ctr">
              <a:lnSpc>
                <a:spcPts val="2525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090823" y="6983854"/>
            <a:ext cx="2865850" cy="35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b="true" sz="2005">
                <a:solidFill>
                  <a:srgbClr val="474F51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538004" y="8638925"/>
            <a:ext cx="1971490" cy="64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1798" b="true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FastAPI</a:t>
            </a:r>
          </a:p>
          <a:p>
            <a:pPr algn="ctr">
              <a:lnSpc>
                <a:spcPts val="2517"/>
              </a:lnSpc>
            </a:pPr>
            <a:r>
              <a:rPr lang="en-US" b="true" sz="1798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99718" y="6983854"/>
            <a:ext cx="2865850" cy="35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b="true" sz="2005">
                <a:solidFill>
                  <a:srgbClr val="474F51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95264" y="8574734"/>
            <a:ext cx="1971490" cy="64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1798" b="true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Postgres </a:t>
            </a:r>
          </a:p>
          <a:p>
            <a:pPr algn="ctr">
              <a:lnSpc>
                <a:spcPts val="2517"/>
              </a:lnSpc>
            </a:pPr>
            <a:r>
              <a:rPr lang="en-US" b="true" sz="1798">
                <a:solidFill>
                  <a:srgbClr val="232323"/>
                </a:solidFill>
                <a:latin typeface="Poppins Bold"/>
                <a:ea typeface="Poppins Bold"/>
                <a:cs typeface="Poppins Bold"/>
                <a:sym typeface="Poppins Bold"/>
              </a:rPr>
              <a:t>SQL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83606" y="1545530"/>
            <a:ext cx="2067439" cy="944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b="true" sz="5199" spc="-337">
                <a:solidFill>
                  <a:srgbClr val="474F51"/>
                </a:solidFill>
                <a:latin typeface="Telegraf Bold"/>
                <a:ea typeface="Telegraf Bold"/>
                <a:cs typeface="Telegraf Bold"/>
                <a:sym typeface="Telegraf Bold"/>
              </a:rPr>
              <a:t>Roles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62482" y="3519389"/>
            <a:ext cx="4707521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Maintains Unified Security Master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Fetch</a:t>
            </a: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historical security prices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Validates theme allocation limits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pdates holdings after Buy/Sell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Calculates portfolio value and P/L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Generates alerts for deviation &gt; 5%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Suggests INCREASE / REDUCE / HOLD</a:t>
            </a:r>
          </a:p>
          <a:p>
            <a:pPr algn="l" marL="471118" indent="-235559" lvl="1">
              <a:lnSpc>
                <a:spcPts val="2618"/>
              </a:lnSpc>
              <a:buFont typeface="Arial"/>
              <a:buChar char="•"/>
            </a:pPr>
            <a:r>
              <a:rPr lang="en-US" sz="2182" spc="-65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Calculates benchmark performance</a:t>
            </a:r>
          </a:p>
          <a:p>
            <a:pPr algn="l">
              <a:lnSpc>
                <a:spcPts val="2618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0446155" y="3072655"/>
            <a:ext cx="3940175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1"/>
              </a:lnSpc>
            </a:pPr>
            <a:r>
              <a:rPr lang="en-US" b="true" sz="1942" spc="-58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F0828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10100" y="1504558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13137" y="2614984"/>
            <a:ext cx="5274286" cy="4050908"/>
            <a:chOff x="0" y="0"/>
            <a:chExt cx="1389112" cy="10669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112" cy="1066906"/>
            </a:xfrm>
            <a:custGeom>
              <a:avLst/>
              <a:gdLst/>
              <a:ahLst/>
              <a:cxnLst/>
              <a:rect r="r" b="b" t="t" l="l"/>
              <a:pathLst>
                <a:path h="1066906" w="1389112">
                  <a:moveTo>
                    <a:pt x="44036" y="0"/>
                  </a:moveTo>
                  <a:lnTo>
                    <a:pt x="1345077" y="0"/>
                  </a:lnTo>
                  <a:cubicBezTo>
                    <a:pt x="1356756" y="0"/>
                    <a:pt x="1367956" y="4639"/>
                    <a:pt x="1376215" y="12898"/>
                  </a:cubicBezTo>
                  <a:cubicBezTo>
                    <a:pt x="1384473" y="21156"/>
                    <a:pt x="1389112" y="32357"/>
                    <a:pt x="1389112" y="44036"/>
                  </a:cubicBezTo>
                  <a:lnTo>
                    <a:pt x="1389112" y="1022870"/>
                  </a:lnTo>
                  <a:cubicBezTo>
                    <a:pt x="1389112" y="1034549"/>
                    <a:pt x="1384473" y="1045750"/>
                    <a:pt x="1376215" y="1054008"/>
                  </a:cubicBezTo>
                  <a:cubicBezTo>
                    <a:pt x="1367956" y="1062266"/>
                    <a:pt x="1356756" y="1066906"/>
                    <a:pt x="1345077" y="1066906"/>
                  </a:cubicBezTo>
                  <a:lnTo>
                    <a:pt x="44036" y="1066906"/>
                  </a:lnTo>
                  <a:cubicBezTo>
                    <a:pt x="32357" y="1066906"/>
                    <a:pt x="21156" y="1062266"/>
                    <a:pt x="12898" y="1054008"/>
                  </a:cubicBezTo>
                  <a:cubicBezTo>
                    <a:pt x="4639" y="1045750"/>
                    <a:pt x="0" y="1034549"/>
                    <a:pt x="0" y="1022870"/>
                  </a:cubicBezTo>
                  <a:lnTo>
                    <a:pt x="0" y="44036"/>
                  </a:lnTo>
                  <a:cubicBezTo>
                    <a:pt x="0" y="32357"/>
                    <a:pt x="4639" y="21156"/>
                    <a:pt x="12898" y="12898"/>
                  </a:cubicBezTo>
                  <a:cubicBezTo>
                    <a:pt x="21156" y="4639"/>
                    <a:pt x="32357" y="0"/>
                    <a:pt x="440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89112" cy="1105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81896" y="2575830"/>
            <a:ext cx="4904563" cy="7226914"/>
            <a:chOff x="0" y="0"/>
            <a:chExt cx="1291737" cy="19033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1737" cy="1903385"/>
            </a:xfrm>
            <a:custGeom>
              <a:avLst/>
              <a:gdLst/>
              <a:ahLst/>
              <a:cxnLst/>
              <a:rect r="r" b="b" t="t" l="l"/>
              <a:pathLst>
                <a:path h="1903385" w="1291737">
                  <a:moveTo>
                    <a:pt x="47355" y="0"/>
                  </a:moveTo>
                  <a:lnTo>
                    <a:pt x="1244381" y="0"/>
                  </a:lnTo>
                  <a:cubicBezTo>
                    <a:pt x="1256941" y="0"/>
                    <a:pt x="1268986" y="4989"/>
                    <a:pt x="1277867" y="13870"/>
                  </a:cubicBezTo>
                  <a:cubicBezTo>
                    <a:pt x="1286747" y="22751"/>
                    <a:pt x="1291737" y="34796"/>
                    <a:pt x="1291737" y="47355"/>
                  </a:cubicBezTo>
                  <a:lnTo>
                    <a:pt x="1291737" y="1856029"/>
                  </a:lnTo>
                  <a:cubicBezTo>
                    <a:pt x="1291737" y="1868589"/>
                    <a:pt x="1286747" y="1880634"/>
                    <a:pt x="1277867" y="1889515"/>
                  </a:cubicBezTo>
                  <a:cubicBezTo>
                    <a:pt x="1268986" y="1898396"/>
                    <a:pt x="1256941" y="1903385"/>
                    <a:pt x="1244381" y="1903385"/>
                  </a:cubicBezTo>
                  <a:lnTo>
                    <a:pt x="47355" y="1903385"/>
                  </a:lnTo>
                  <a:cubicBezTo>
                    <a:pt x="34796" y="1903385"/>
                    <a:pt x="22751" y="1898396"/>
                    <a:pt x="13870" y="1889515"/>
                  </a:cubicBezTo>
                  <a:cubicBezTo>
                    <a:pt x="4989" y="1880634"/>
                    <a:pt x="0" y="1868589"/>
                    <a:pt x="0" y="1856029"/>
                  </a:cubicBezTo>
                  <a:lnTo>
                    <a:pt x="0" y="47355"/>
                  </a:lnTo>
                  <a:cubicBezTo>
                    <a:pt x="0" y="34796"/>
                    <a:pt x="4989" y="22751"/>
                    <a:pt x="13870" y="13870"/>
                  </a:cubicBezTo>
                  <a:cubicBezTo>
                    <a:pt x="22751" y="4989"/>
                    <a:pt x="34796" y="0"/>
                    <a:pt x="473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1737" cy="1941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85410" y="2575830"/>
            <a:ext cx="5108968" cy="7081045"/>
            <a:chOff x="0" y="0"/>
            <a:chExt cx="1345572" cy="18649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5572" cy="1864967"/>
            </a:xfrm>
            <a:custGeom>
              <a:avLst/>
              <a:gdLst/>
              <a:ahLst/>
              <a:cxnLst/>
              <a:rect r="r" b="b" t="t" l="l"/>
              <a:pathLst>
                <a:path h="1864967" w="1345572">
                  <a:moveTo>
                    <a:pt x="45461" y="0"/>
                  </a:moveTo>
                  <a:lnTo>
                    <a:pt x="1300111" y="0"/>
                  </a:lnTo>
                  <a:cubicBezTo>
                    <a:pt x="1325218" y="0"/>
                    <a:pt x="1345572" y="20353"/>
                    <a:pt x="1345572" y="45461"/>
                  </a:cubicBezTo>
                  <a:lnTo>
                    <a:pt x="1345572" y="1819506"/>
                  </a:lnTo>
                  <a:cubicBezTo>
                    <a:pt x="1345572" y="1844613"/>
                    <a:pt x="1325218" y="1864967"/>
                    <a:pt x="1300111" y="1864967"/>
                  </a:cubicBezTo>
                  <a:lnTo>
                    <a:pt x="45461" y="1864967"/>
                  </a:lnTo>
                  <a:cubicBezTo>
                    <a:pt x="20353" y="1864967"/>
                    <a:pt x="0" y="1844613"/>
                    <a:pt x="0" y="1819506"/>
                  </a:cubicBezTo>
                  <a:lnTo>
                    <a:pt x="0" y="45461"/>
                  </a:lnTo>
                  <a:cubicBezTo>
                    <a:pt x="0" y="20353"/>
                    <a:pt x="20353" y="0"/>
                    <a:pt x="4546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5572" cy="1903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5652" y="7512728"/>
            <a:ext cx="5622261" cy="1745572"/>
            <a:chOff x="0" y="0"/>
            <a:chExt cx="1480760" cy="4597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0760" cy="459739"/>
            </a:xfrm>
            <a:custGeom>
              <a:avLst/>
              <a:gdLst/>
              <a:ahLst/>
              <a:cxnLst/>
              <a:rect r="r" b="b" t="t" l="l"/>
              <a:pathLst>
                <a:path h="459739" w="1480760">
                  <a:moveTo>
                    <a:pt x="41310" y="0"/>
                  </a:moveTo>
                  <a:lnTo>
                    <a:pt x="1439450" y="0"/>
                  </a:lnTo>
                  <a:cubicBezTo>
                    <a:pt x="1450406" y="0"/>
                    <a:pt x="1460913" y="4352"/>
                    <a:pt x="1468661" y="12100"/>
                  </a:cubicBezTo>
                  <a:cubicBezTo>
                    <a:pt x="1476408" y="19847"/>
                    <a:pt x="1480760" y="30354"/>
                    <a:pt x="1480760" y="41310"/>
                  </a:cubicBezTo>
                  <a:lnTo>
                    <a:pt x="1480760" y="418429"/>
                  </a:lnTo>
                  <a:cubicBezTo>
                    <a:pt x="1480760" y="441244"/>
                    <a:pt x="1462265" y="459739"/>
                    <a:pt x="1439450" y="459739"/>
                  </a:cubicBezTo>
                  <a:lnTo>
                    <a:pt x="41310" y="459739"/>
                  </a:lnTo>
                  <a:cubicBezTo>
                    <a:pt x="30354" y="459739"/>
                    <a:pt x="19847" y="455387"/>
                    <a:pt x="12100" y="447640"/>
                  </a:cubicBezTo>
                  <a:cubicBezTo>
                    <a:pt x="4352" y="439892"/>
                    <a:pt x="0" y="429385"/>
                    <a:pt x="0" y="418429"/>
                  </a:cubicBezTo>
                  <a:lnTo>
                    <a:pt x="0" y="41310"/>
                  </a:lnTo>
                  <a:cubicBezTo>
                    <a:pt x="0" y="30354"/>
                    <a:pt x="4352" y="19847"/>
                    <a:pt x="12100" y="12100"/>
                  </a:cubicBezTo>
                  <a:cubicBezTo>
                    <a:pt x="19847" y="4352"/>
                    <a:pt x="30354" y="0"/>
                    <a:pt x="4131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80760" cy="49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76049" y="8061602"/>
            <a:ext cx="505302" cy="647823"/>
          </a:xfrm>
          <a:custGeom>
            <a:avLst/>
            <a:gdLst/>
            <a:ahLst/>
            <a:cxnLst/>
            <a:rect r="r" b="b" t="t" l="l"/>
            <a:pathLst>
              <a:path h="647823" w="505302">
                <a:moveTo>
                  <a:pt x="0" y="0"/>
                </a:moveTo>
                <a:lnTo>
                  <a:pt x="505302" y="0"/>
                </a:lnTo>
                <a:lnTo>
                  <a:pt x="505302" y="647824"/>
                </a:lnTo>
                <a:lnTo>
                  <a:pt x="0" y="647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88859" y="8105441"/>
            <a:ext cx="2382616" cy="603984"/>
            <a:chOff x="0" y="0"/>
            <a:chExt cx="3176821" cy="80531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523164" y="9525"/>
              <a:ext cx="2653657" cy="258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0"/>
                </a:lnSpc>
              </a:pPr>
              <a:r>
                <a:rPr lang="en-US" b="true" sz="1209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CUSTOMER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23164" y="546530"/>
              <a:ext cx="2653657" cy="258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50"/>
                </a:lnSpc>
              </a:pPr>
              <a:r>
                <a:rPr lang="en-US" b="true" sz="1209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ADMIN</a:t>
              </a:r>
            </a:p>
          </p:txBody>
        </p:sp>
        <p:sp>
          <p:nvSpPr>
            <p:cNvPr name="AutoShape 23" id="23"/>
            <p:cNvSpPr/>
            <p:nvPr/>
          </p:nvSpPr>
          <p:spPr>
            <a:xfrm flipH="true" flipV="true">
              <a:off x="523164" y="134154"/>
              <a:ext cx="14024" cy="537005"/>
            </a:xfrm>
            <a:prstGeom prst="line">
              <a:avLst/>
            </a:prstGeom>
            <a:ln cap="flat" w="3232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523164" y="134154"/>
              <a:ext cx="580008" cy="0"/>
            </a:xfrm>
            <a:prstGeom prst="line">
              <a:avLst/>
            </a:prstGeom>
            <a:ln cap="flat" w="32326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553351" y="671159"/>
              <a:ext cx="549821" cy="0"/>
            </a:xfrm>
            <a:prstGeom prst="line">
              <a:avLst/>
            </a:prstGeom>
            <a:ln cap="flat" w="32326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0" y="402656"/>
              <a:ext cx="537188" cy="0"/>
            </a:xfrm>
            <a:prstGeom prst="line">
              <a:avLst/>
            </a:prstGeom>
            <a:ln cap="flat" w="3232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537529" y="7512728"/>
            <a:ext cx="2480385" cy="1745572"/>
            <a:chOff x="0" y="0"/>
            <a:chExt cx="3307180" cy="232742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307180" cy="2327429"/>
              <a:chOff x="0" y="0"/>
              <a:chExt cx="653270" cy="45973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53270" cy="459739"/>
              </a:xfrm>
              <a:custGeom>
                <a:avLst/>
                <a:gdLst/>
                <a:ahLst/>
                <a:cxnLst/>
                <a:rect r="r" b="b" t="t" l="l"/>
                <a:pathLst>
                  <a:path h="459739" w="653270">
                    <a:moveTo>
                      <a:pt x="93638" y="0"/>
                    </a:moveTo>
                    <a:lnTo>
                      <a:pt x="559632" y="0"/>
                    </a:lnTo>
                    <a:cubicBezTo>
                      <a:pt x="584467" y="0"/>
                      <a:pt x="608284" y="9865"/>
                      <a:pt x="625844" y="27426"/>
                    </a:cubicBezTo>
                    <a:cubicBezTo>
                      <a:pt x="643405" y="44986"/>
                      <a:pt x="653270" y="68803"/>
                      <a:pt x="653270" y="93638"/>
                    </a:cubicBezTo>
                    <a:lnTo>
                      <a:pt x="653270" y="366101"/>
                    </a:lnTo>
                    <a:cubicBezTo>
                      <a:pt x="653270" y="417816"/>
                      <a:pt x="611347" y="459739"/>
                      <a:pt x="559632" y="459739"/>
                    </a:cubicBezTo>
                    <a:lnTo>
                      <a:pt x="93638" y="459739"/>
                    </a:lnTo>
                    <a:cubicBezTo>
                      <a:pt x="68803" y="459739"/>
                      <a:pt x="44986" y="449874"/>
                      <a:pt x="27426" y="432313"/>
                    </a:cubicBezTo>
                    <a:cubicBezTo>
                      <a:pt x="9865" y="414753"/>
                      <a:pt x="0" y="390936"/>
                      <a:pt x="0" y="366101"/>
                    </a:cubicBezTo>
                    <a:lnTo>
                      <a:pt x="0" y="93638"/>
                    </a:lnTo>
                    <a:cubicBezTo>
                      <a:pt x="0" y="41923"/>
                      <a:pt x="41923" y="0"/>
                      <a:pt x="936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53270" cy="4978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2105195" y="585599"/>
              <a:ext cx="994767" cy="1146660"/>
            </a:xfrm>
            <a:custGeom>
              <a:avLst/>
              <a:gdLst/>
              <a:ahLst/>
              <a:cxnLst/>
              <a:rect r="r" b="b" t="t" l="l"/>
              <a:pathLst>
                <a:path h="1146660" w="994767">
                  <a:moveTo>
                    <a:pt x="0" y="0"/>
                  </a:moveTo>
                  <a:lnTo>
                    <a:pt x="994767" y="0"/>
                  </a:lnTo>
                  <a:lnTo>
                    <a:pt x="994767" y="1146660"/>
                  </a:lnTo>
                  <a:lnTo>
                    <a:pt x="0" y="1146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634" t="0" r="-7634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355" y="535711"/>
              <a:ext cx="1089630" cy="1256008"/>
            </a:xfrm>
            <a:custGeom>
              <a:avLst/>
              <a:gdLst/>
              <a:ahLst/>
              <a:cxnLst/>
              <a:rect r="r" b="b" t="t" l="l"/>
              <a:pathLst>
                <a:path h="1256008" w="1089630">
                  <a:moveTo>
                    <a:pt x="0" y="0"/>
                  </a:moveTo>
                  <a:lnTo>
                    <a:pt x="1089630" y="0"/>
                  </a:lnTo>
                  <a:lnTo>
                    <a:pt x="1089630" y="1256007"/>
                  </a:lnTo>
                  <a:lnTo>
                    <a:pt x="0" y="1256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634" t="0" r="-7634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78862" y="726983"/>
              <a:ext cx="749456" cy="863892"/>
            </a:xfrm>
            <a:custGeom>
              <a:avLst/>
              <a:gdLst/>
              <a:ahLst/>
              <a:cxnLst/>
              <a:rect r="r" b="b" t="t" l="l"/>
              <a:pathLst>
                <a:path h="863892" w="749456">
                  <a:moveTo>
                    <a:pt x="0" y="0"/>
                  </a:moveTo>
                  <a:lnTo>
                    <a:pt x="749456" y="0"/>
                  </a:lnTo>
                  <a:lnTo>
                    <a:pt x="749456" y="863892"/>
                  </a:lnTo>
                  <a:lnTo>
                    <a:pt x="0" y="86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634" t="0" r="-7634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flipV="true">
            <a:off x="3032749" y="6665891"/>
            <a:ext cx="0" cy="8468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5887423" y="3515923"/>
            <a:ext cx="8468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11586459" y="3534973"/>
            <a:ext cx="10989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>
            <a:off x="11626819" y="5730026"/>
            <a:ext cx="10585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H="true">
            <a:off x="5887423" y="5749076"/>
            <a:ext cx="8468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486279" y="3889782"/>
            <a:ext cx="3171298" cy="2707227"/>
            <a:chOff x="0" y="0"/>
            <a:chExt cx="4228397" cy="360963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125327" cy="3436099"/>
              <a:chOff x="0" y="0"/>
              <a:chExt cx="1397416" cy="116394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97415" cy="1163946"/>
              </a:xfrm>
              <a:custGeom>
                <a:avLst/>
                <a:gdLst/>
                <a:ahLst/>
                <a:cxnLst/>
                <a:rect r="r" b="b" t="t" l="l"/>
                <a:pathLst>
                  <a:path h="1163946" w="1397415">
                    <a:moveTo>
                      <a:pt x="43774" y="0"/>
                    </a:moveTo>
                    <a:lnTo>
                      <a:pt x="1353641" y="0"/>
                    </a:lnTo>
                    <a:cubicBezTo>
                      <a:pt x="1377817" y="0"/>
                      <a:pt x="1397415" y="19598"/>
                      <a:pt x="1397415" y="43774"/>
                    </a:cubicBezTo>
                    <a:lnTo>
                      <a:pt x="1397415" y="1120172"/>
                    </a:lnTo>
                    <a:cubicBezTo>
                      <a:pt x="1397415" y="1131782"/>
                      <a:pt x="1392804" y="1142916"/>
                      <a:pt x="1384594" y="1151125"/>
                    </a:cubicBezTo>
                    <a:cubicBezTo>
                      <a:pt x="1376385" y="1159334"/>
                      <a:pt x="1365251" y="1163946"/>
                      <a:pt x="1353641" y="1163946"/>
                    </a:cubicBezTo>
                    <a:lnTo>
                      <a:pt x="43774" y="1163946"/>
                    </a:lnTo>
                    <a:cubicBezTo>
                      <a:pt x="32165" y="1163946"/>
                      <a:pt x="21030" y="1159334"/>
                      <a:pt x="12821" y="1151125"/>
                    </a:cubicBezTo>
                    <a:cubicBezTo>
                      <a:pt x="4612" y="1142916"/>
                      <a:pt x="0" y="1131782"/>
                      <a:pt x="0" y="1120172"/>
                    </a:cubicBezTo>
                    <a:lnTo>
                      <a:pt x="0" y="43774"/>
                    </a:lnTo>
                    <a:cubicBezTo>
                      <a:pt x="0" y="32165"/>
                      <a:pt x="4612" y="21030"/>
                      <a:pt x="12821" y="12821"/>
                    </a:cubicBezTo>
                    <a:cubicBezTo>
                      <a:pt x="21030" y="4612"/>
                      <a:pt x="32165" y="0"/>
                      <a:pt x="437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397416" cy="1202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246438" y="141254"/>
              <a:ext cx="3981960" cy="3468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Provides Fund Manager UI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Login and Dashboard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Security Master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Asset Classes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Investment Themes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Portfolio creation and details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Buy / Sell screens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Holdings and Transactions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Alerts and Rebalancing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Performance charts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Sends REST requests to FastAPI</a:t>
              </a:r>
            </a:p>
            <a:p>
              <a:pPr algn="l" marL="262222" indent="-131111" lvl="1">
                <a:lnSpc>
                  <a:spcPts val="1457"/>
                </a:lnSpc>
                <a:buFont typeface="Arial"/>
                <a:buChar char="•"/>
              </a:pPr>
              <a:r>
                <a:rPr lang="en-US" b="true" sz="1214" spc="-36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Displays JSON responses</a:t>
              </a:r>
            </a:p>
            <a:p>
              <a:pPr algn="l">
                <a:lnSpc>
                  <a:spcPts val="1457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8303" y="3889782"/>
            <a:ext cx="3794166" cy="4517652"/>
            <a:chOff x="0" y="0"/>
            <a:chExt cx="1035895" cy="12334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5895" cy="1233423"/>
            </a:xfrm>
            <a:custGeom>
              <a:avLst/>
              <a:gdLst/>
              <a:ahLst/>
              <a:cxnLst/>
              <a:rect r="r" b="b" t="t" l="l"/>
              <a:pathLst>
                <a:path h="1233423" w="1035895">
                  <a:moveTo>
                    <a:pt x="61214" y="0"/>
                  </a:moveTo>
                  <a:lnTo>
                    <a:pt x="974681" y="0"/>
                  </a:lnTo>
                  <a:cubicBezTo>
                    <a:pt x="990916" y="0"/>
                    <a:pt x="1006486" y="6449"/>
                    <a:pt x="1017966" y="17929"/>
                  </a:cubicBezTo>
                  <a:cubicBezTo>
                    <a:pt x="1029446" y="29409"/>
                    <a:pt x="1035895" y="44979"/>
                    <a:pt x="1035895" y="61214"/>
                  </a:cubicBezTo>
                  <a:lnTo>
                    <a:pt x="1035895" y="1172209"/>
                  </a:lnTo>
                  <a:cubicBezTo>
                    <a:pt x="1035895" y="1206017"/>
                    <a:pt x="1008488" y="1233423"/>
                    <a:pt x="974681" y="1233423"/>
                  </a:cubicBezTo>
                  <a:lnTo>
                    <a:pt x="61214" y="1233423"/>
                  </a:lnTo>
                  <a:cubicBezTo>
                    <a:pt x="44979" y="1233423"/>
                    <a:pt x="29409" y="1226974"/>
                    <a:pt x="17929" y="1215494"/>
                  </a:cubicBezTo>
                  <a:cubicBezTo>
                    <a:pt x="6449" y="1204014"/>
                    <a:pt x="0" y="1188444"/>
                    <a:pt x="0" y="1172209"/>
                  </a:cubicBezTo>
                  <a:lnTo>
                    <a:pt x="0" y="61214"/>
                  </a:lnTo>
                  <a:cubicBezTo>
                    <a:pt x="0" y="44979"/>
                    <a:pt x="6449" y="29409"/>
                    <a:pt x="17929" y="17929"/>
                  </a:cubicBezTo>
                  <a:cubicBezTo>
                    <a:pt x="29409" y="6449"/>
                    <a:pt x="44979" y="0"/>
                    <a:pt x="612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35895" cy="1271523"/>
            </a:xfrm>
            <a:prstGeom prst="rect">
              <a:avLst/>
            </a:prstGeom>
          </p:spPr>
          <p:txBody>
            <a:bodyPr anchor="ctr" rtlCol="false" tIns="49005" lIns="49005" bIns="49005" rIns="4900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421372" y="3908237"/>
            <a:ext cx="3750476" cy="465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/ Activate Portfolio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Buy / Sell Security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Holdings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</a:t>
            </a: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Transactions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Asset Allocation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Alert Generation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Rebalancing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Performance Comparison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Search Security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Historical Price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Latest Price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Provides REST API endpoints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</a:t>
            </a: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alidates input using Pydantic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Processes Buy/Sell transactions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pplies investment theme rules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Calculates allocation deviation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Generates alerts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Calculates rebalancing amount</a:t>
            </a:r>
          </a:p>
          <a:p>
            <a:pPr algn="l" marL="303460" indent="-151730" lvl="1">
              <a:lnSpc>
                <a:spcPts val="1686"/>
              </a:lnSpc>
              <a:buFont typeface="Arial"/>
              <a:buChar char="•"/>
            </a:pPr>
            <a:r>
              <a:rPr lang="en-US" b="true" sz="1405" spc="-42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Compares portfolio with NIFTY 50</a:t>
            </a:r>
          </a:p>
          <a:p>
            <a:pPr algn="l">
              <a:lnSpc>
                <a:spcPts val="1686"/>
              </a:lnSpc>
            </a:pP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0424829" y="8709426"/>
            <a:ext cx="872786" cy="872786"/>
          </a:xfrm>
          <a:custGeom>
            <a:avLst/>
            <a:gdLst/>
            <a:ahLst/>
            <a:cxnLst/>
            <a:rect r="r" b="b" t="t" l="l"/>
            <a:pathLst>
              <a:path h="872786" w="872786">
                <a:moveTo>
                  <a:pt x="0" y="0"/>
                </a:moveTo>
                <a:lnTo>
                  <a:pt x="872786" y="0"/>
                </a:lnTo>
                <a:lnTo>
                  <a:pt x="872786" y="872786"/>
                </a:lnTo>
                <a:lnTo>
                  <a:pt x="0" y="8727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3112510" y="3954837"/>
            <a:ext cx="4333893" cy="4876810"/>
            <a:chOff x="0" y="0"/>
            <a:chExt cx="1534340" cy="17265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34340" cy="1726551"/>
            </a:xfrm>
            <a:custGeom>
              <a:avLst/>
              <a:gdLst/>
              <a:ahLst/>
              <a:cxnLst/>
              <a:rect r="r" b="b" t="t" l="l"/>
              <a:pathLst>
                <a:path h="1726551" w="1534340">
                  <a:moveTo>
                    <a:pt x="53591" y="0"/>
                  </a:moveTo>
                  <a:lnTo>
                    <a:pt x="1480749" y="0"/>
                  </a:lnTo>
                  <a:cubicBezTo>
                    <a:pt x="1510347" y="0"/>
                    <a:pt x="1534340" y="23993"/>
                    <a:pt x="1534340" y="53591"/>
                  </a:cubicBezTo>
                  <a:lnTo>
                    <a:pt x="1534340" y="1672960"/>
                  </a:lnTo>
                  <a:cubicBezTo>
                    <a:pt x="1534340" y="1702557"/>
                    <a:pt x="1510347" y="1726551"/>
                    <a:pt x="1480749" y="1726551"/>
                  </a:cubicBezTo>
                  <a:lnTo>
                    <a:pt x="53591" y="1726551"/>
                  </a:lnTo>
                  <a:cubicBezTo>
                    <a:pt x="23993" y="1726551"/>
                    <a:pt x="0" y="1702557"/>
                    <a:pt x="0" y="1672960"/>
                  </a:cubicBezTo>
                  <a:lnTo>
                    <a:pt x="0" y="53591"/>
                  </a:lnTo>
                  <a:cubicBezTo>
                    <a:pt x="0" y="23993"/>
                    <a:pt x="23993" y="0"/>
                    <a:pt x="5359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534340" cy="1764651"/>
            </a:xfrm>
            <a:prstGeom prst="rect">
              <a:avLst/>
            </a:prstGeom>
          </p:spPr>
          <p:txBody>
            <a:bodyPr anchor="ctr" rtlCol="false" tIns="37791" lIns="37791" bIns="37791" rIns="3779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232883" y="4044759"/>
            <a:ext cx="4093148" cy="48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Tables: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asset_class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Asset class details and classification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security_master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Security master details and asset class mapping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market_price_history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Historical market price details of securities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benchmark_price_history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Historical NIFTY 50 benchmark price details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investment_theme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- investment theme and risk profile details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theme_allocation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Target asset allocation for each investment theme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portfolio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Portfolio details, investment amount and available balance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portfolio_holding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Current securities held in each portfolio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portfolio_transaction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BUY and SELL transaction details</a:t>
            </a:r>
          </a:p>
          <a:p>
            <a:pPr algn="l" marL="262197" indent="-131099" lvl="1">
              <a:lnSpc>
                <a:spcPts val="1457"/>
              </a:lnSpc>
              <a:buFont typeface="Arial"/>
              <a:buChar char="•"/>
            </a:pPr>
            <a:r>
              <a:rPr lang="en-US" b="true" sz="1214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portfolio_alert</a:t>
            </a:r>
          </a:p>
          <a:p>
            <a:pPr algn="l">
              <a:lnSpc>
                <a:spcPts val="1457"/>
              </a:lnSpc>
            </a:pPr>
            <a:r>
              <a:rPr lang="en-US" sz="1214" spc="-36" b="tru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- </a:t>
            </a:r>
            <a:r>
              <a:rPr lang="en-US" sz="1214" spc="-36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Allocation deviation alerts and rebalancing recommendations</a:t>
            </a:r>
          </a:p>
          <a:p>
            <a:pPr algn="l">
              <a:lnSpc>
                <a:spcPts val="1457"/>
              </a:lnSpc>
            </a:pPr>
          </a:p>
        </p:txBody>
      </p:sp>
      <p:grpSp>
        <p:nvGrpSpPr>
          <p:cNvPr name="Group 53" id="53"/>
          <p:cNvGrpSpPr/>
          <p:nvPr/>
        </p:nvGrpSpPr>
        <p:grpSpPr>
          <a:xfrm rot="0">
            <a:off x="5291396" y="1446422"/>
            <a:ext cx="8010429" cy="756920"/>
            <a:chOff x="0" y="0"/>
            <a:chExt cx="10680572" cy="1009227"/>
          </a:xfrm>
        </p:grpSpPr>
        <p:grpSp>
          <p:nvGrpSpPr>
            <p:cNvPr name="Group 54" id="54"/>
            <p:cNvGrpSpPr/>
            <p:nvPr/>
          </p:nvGrpSpPr>
          <p:grpSpPr>
            <a:xfrm rot="-5400000">
              <a:off x="5308536" y="-1405020"/>
              <a:ext cx="63500" cy="4764993"/>
              <a:chOff x="0" y="0"/>
              <a:chExt cx="12543" cy="941233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2543" cy="941233"/>
              </a:xfrm>
              <a:custGeom>
                <a:avLst/>
                <a:gdLst/>
                <a:ahLst/>
                <a:cxnLst/>
                <a:rect r="r" b="b" t="t" l="l"/>
                <a:pathLst>
                  <a:path h="941233" w="12543">
                    <a:moveTo>
                      <a:pt x="6272" y="0"/>
                    </a:moveTo>
                    <a:lnTo>
                      <a:pt x="6272" y="0"/>
                    </a:lnTo>
                    <a:cubicBezTo>
                      <a:pt x="7935" y="0"/>
                      <a:pt x="9530" y="661"/>
                      <a:pt x="10706" y="1837"/>
                    </a:cubicBezTo>
                    <a:cubicBezTo>
                      <a:pt x="11882" y="3013"/>
                      <a:pt x="12543" y="4608"/>
                      <a:pt x="12543" y="6272"/>
                    </a:cubicBezTo>
                    <a:lnTo>
                      <a:pt x="12543" y="934962"/>
                    </a:lnTo>
                    <a:cubicBezTo>
                      <a:pt x="12543" y="936625"/>
                      <a:pt x="11882" y="938220"/>
                      <a:pt x="10706" y="939396"/>
                    </a:cubicBezTo>
                    <a:cubicBezTo>
                      <a:pt x="9530" y="940573"/>
                      <a:pt x="7935" y="941233"/>
                      <a:pt x="6272" y="941233"/>
                    </a:cubicBezTo>
                    <a:lnTo>
                      <a:pt x="6272" y="941233"/>
                    </a:lnTo>
                    <a:cubicBezTo>
                      <a:pt x="4608" y="941233"/>
                      <a:pt x="3013" y="940573"/>
                      <a:pt x="1837" y="939396"/>
                    </a:cubicBezTo>
                    <a:cubicBezTo>
                      <a:pt x="661" y="938220"/>
                      <a:pt x="0" y="936625"/>
                      <a:pt x="0" y="934962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2543" cy="9793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0" y="-142875"/>
              <a:ext cx="10680572" cy="1088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  <a:spcBef>
                  <a:spcPct val="0"/>
                </a:spcBef>
              </a:pPr>
              <a:r>
                <a:rPr lang="en-US" sz="4699" spc="-305">
                  <a:solidFill>
                    <a:srgbClr val="474F51"/>
                  </a:solidFill>
                  <a:latin typeface="Telegraf"/>
                  <a:ea typeface="Telegraf"/>
                  <a:cs typeface="Telegraf"/>
                  <a:sym typeface="Telegraf"/>
                </a:rPr>
                <a:t>Architecture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8616746" y="8745501"/>
            <a:ext cx="1469831" cy="836711"/>
          </a:xfrm>
          <a:custGeom>
            <a:avLst/>
            <a:gdLst/>
            <a:ahLst/>
            <a:cxnLst/>
            <a:rect r="r" b="b" t="t" l="l"/>
            <a:pathLst>
              <a:path h="836711" w="1469831">
                <a:moveTo>
                  <a:pt x="0" y="0"/>
                </a:moveTo>
                <a:lnTo>
                  <a:pt x="1469831" y="0"/>
                </a:lnTo>
                <a:lnTo>
                  <a:pt x="1469831" y="836711"/>
                </a:lnTo>
                <a:lnTo>
                  <a:pt x="0" y="83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727576" y="8745501"/>
            <a:ext cx="889171" cy="889171"/>
          </a:xfrm>
          <a:custGeom>
            <a:avLst/>
            <a:gdLst/>
            <a:ahLst/>
            <a:cxnLst/>
            <a:rect r="r" b="b" t="t" l="l"/>
            <a:pathLst>
              <a:path h="889171" w="889171">
                <a:moveTo>
                  <a:pt x="0" y="0"/>
                </a:moveTo>
                <a:lnTo>
                  <a:pt x="889170" y="0"/>
                </a:lnTo>
                <a:lnTo>
                  <a:pt x="889170" y="889170"/>
                </a:lnTo>
                <a:lnTo>
                  <a:pt x="0" y="8891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5887423" y="3214933"/>
            <a:ext cx="794473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b="true" sz="1200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Http Req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887423" y="5868169"/>
            <a:ext cx="794473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b="true" sz="1200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JSON Res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76207" y="3214933"/>
            <a:ext cx="919454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b="true" sz="1200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SQL Queries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676207" y="5868169"/>
            <a:ext cx="919454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</a:pPr>
            <a:r>
              <a:rPr lang="en-US" b="true" sz="1200" spc="-3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Query Result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2731699"/>
            <a:ext cx="4409782" cy="101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82">
                <a:solidFill>
                  <a:srgbClr val="474F51"/>
                </a:solidFill>
                <a:latin typeface="Telegraf"/>
                <a:ea typeface="Telegraf"/>
                <a:cs typeface="Telegraf"/>
                <a:sym typeface="Telegraf"/>
              </a:rPr>
              <a:t>Tier 1 Presentation Layer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82">
                <a:solidFill>
                  <a:srgbClr val="474F51"/>
                </a:solidFill>
                <a:latin typeface="Telegraf"/>
                <a:ea typeface="Telegraf"/>
                <a:cs typeface="Telegraf"/>
                <a:sym typeface="Telegraf"/>
              </a:rPr>
              <a:t>( FrontEnd 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955468" y="2748526"/>
            <a:ext cx="4409782" cy="101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82">
                <a:solidFill>
                  <a:srgbClr val="474F51"/>
                </a:solidFill>
                <a:latin typeface="Telegraf"/>
                <a:ea typeface="Telegraf"/>
                <a:cs typeface="Telegraf"/>
                <a:sym typeface="Telegraf"/>
              </a:rPr>
              <a:t>Tier 2 Application Layer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82">
                <a:solidFill>
                  <a:srgbClr val="474F51"/>
                </a:solidFill>
                <a:latin typeface="Telegraf"/>
                <a:ea typeface="Telegraf"/>
                <a:cs typeface="Telegraf"/>
                <a:sym typeface="Telegraf"/>
              </a:rPr>
              <a:t>( Backend 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035003" y="2748526"/>
            <a:ext cx="4409782" cy="101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82">
                <a:solidFill>
                  <a:srgbClr val="474F51"/>
                </a:solidFill>
                <a:latin typeface="Telegraf"/>
                <a:ea typeface="Telegraf"/>
                <a:cs typeface="Telegraf"/>
                <a:sym typeface="Telegraf"/>
              </a:rPr>
              <a:t>Tier 3 Data Layer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82">
                <a:solidFill>
                  <a:srgbClr val="474F51"/>
                </a:solidFill>
                <a:latin typeface="Telegraf"/>
                <a:ea typeface="Telegraf"/>
                <a:cs typeface="Telegraf"/>
                <a:sym typeface="Telegraf"/>
              </a:rPr>
              <a:t>( Database 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F0828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10100" y="1548055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291396" y="1446422"/>
            <a:ext cx="8010429" cy="756920"/>
            <a:chOff x="0" y="0"/>
            <a:chExt cx="10680572" cy="1009227"/>
          </a:xfrm>
        </p:grpSpPr>
        <p:grpSp>
          <p:nvGrpSpPr>
            <p:cNvPr name="Group 8" id="8"/>
            <p:cNvGrpSpPr/>
            <p:nvPr/>
          </p:nvGrpSpPr>
          <p:grpSpPr>
            <a:xfrm rot="-5400000">
              <a:off x="5308536" y="-1405020"/>
              <a:ext cx="63500" cy="4764993"/>
              <a:chOff x="0" y="0"/>
              <a:chExt cx="12543" cy="9412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543" cy="941233"/>
              </a:xfrm>
              <a:custGeom>
                <a:avLst/>
                <a:gdLst/>
                <a:ahLst/>
                <a:cxnLst/>
                <a:rect r="r" b="b" t="t" l="l"/>
                <a:pathLst>
                  <a:path h="941233" w="12543">
                    <a:moveTo>
                      <a:pt x="6272" y="0"/>
                    </a:moveTo>
                    <a:lnTo>
                      <a:pt x="6272" y="0"/>
                    </a:lnTo>
                    <a:cubicBezTo>
                      <a:pt x="7935" y="0"/>
                      <a:pt x="9530" y="661"/>
                      <a:pt x="10706" y="1837"/>
                    </a:cubicBezTo>
                    <a:cubicBezTo>
                      <a:pt x="11882" y="3013"/>
                      <a:pt x="12543" y="4608"/>
                      <a:pt x="12543" y="6272"/>
                    </a:cubicBezTo>
                    <a:lnTo>
                      <a:pt x="12543" y="934962"/>
                    </a:lnTo>
                    <a:cubicBezTo>
                      <a:pt x="12543" y="936625"/>
                      <a:pt x="11882" y="938220"/>
                      <a:pt x="10706" y="939396"/>
                    </a:cubicBezTo>
                    <a:cubicBezTo>
                      <a:pt x="9530" y="940573"/>
                      <a:pt x="7935" y="941233"/>
                      <a:pt x="6272" y="941233"/>
                    </a:cubicBezTo>
                    <a:lnTo>
                      <a:pt x="6272" y="941233"/>
                    </a:lnTo>
                    <a:cubicBezTo>
                      <a:pt x="4608" y="941233"/>
                      <a:pt x="3013" y="940573"/>
                      <a:pt x="1837" y="939396"/>
                    </a:cubicBezTo>
                    <a:cubicBezTo>
                      <a:pt x="661" y="938220"/>
                      <a:pt x="0" y="936625"/>
                      <a:pt x="0" y="934962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2543" cy="9793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-142875"/>
              <a:ext cx="10680572" cy="1088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  <a:spcBef>
                  <a:spcPct val="0"/>
                </a:spcBef>
              </a:pPr>
              <a:r>
                <a:rPr lang="en-US" sz="4699" spc="-305">
                  <a:solidFill>
                    <a:srgbClr val="474F51"/>
                  </a:solidFill>
                  <a:latin typeface="Telegraf"/>
                  <a:ea typeface="Telegraf"/>
                  <a:cs typeface="Telegraf"/>
                  <a:sym typeface="Telegraf"/>
                </a:rPr>
                <a:t>Workflow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45996" y="2429345"/>
            <a:ext cx="5996009" cy="3217810"/>
            <a:chOff x="0" y="0"/>
            <a:chExt cx="7994678" cy="429041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2543856" y="0"/>
              <a:ext cx="3324301" cy="378823"/>
              <a:chOff x="0" y="0"/>
              <a:chExt cx="971647" cy="1107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71647" cy="110725"/>
              </a:xfrm>
              <a:custGeom>
                <a:avLst/>
                <a:gdLst/>
                <a:ahLst/>
                <a:cxnLst/>
                <a:rect r="r" b="b" t="t" l="l"/>
                <a:pathLst>
                  <a:path h="110725" w="971647">
                    <a:moveTo>
                      <a:pt x="55362" y="0"/>
                    </a:moveTo>
                    <a:lnTo>
                      <a:pt x="916285" y="0"/>
                    </a:lnTo>
                    <a:cubicBezTo>
                      <a:pt x="946860" y="0"/>
                      <a:pt x="971647" y="24787"/>
                      <a:pt x="971647" y="55362"/>
                    </a:cubicBezTo>
                    <a:lnTo>
                      <a:pt x="971647" y="55362"/>
                    </a:lnTo>
                    <a:cubicBezTo>
                      <a:pt x="971647" y="85938"/>
                      <a:pt x="946860" y="110725"/>
                      <a:pt x="916285" y="110725"/>
                    </a:cubicBezTo>
                    <a:lnTo>
                      <a:pt x="55362" y="110725"/>
                    </a:lnTo>
                    <a:cubicBezTo>
                      <a:pt x="24787" y="110725"/>
                      <a:pt x="0" y="85938"/>
                      <a:pt x="0" y="55362"/>
                    </a:cubicBezTo>
                    <a:lnTo>
                      <a:pt x="0" y="55362"/>
                    </a:lnTo>
                    <a:cubicBezTo>
                      <a:pt x="0" y="24787"/>
                      <a:pt x="24787" y="0"/>
                      <a:pt x="553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71647" cy="148825"/>
              </a:xfrm>
              <a:prstGeom prst="rect">
                <a:avLst/>
              </a:prstGeom>
            </p:spPr>
            <p:txBody>
              <a:bodyPr anchor="ctr" rtlCol="false" tIns="57129" lIns="57129" bIns="57129" rIns="571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796878" y="0"/>
              <a:ext cx="2818256" cy="3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7"/>
                </a:lnSpc>
              </a:pPr>
              <a:r>
                <a:rPr lang="en-US" b="true" sz="1689" spc="-50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START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2543856" y="679333"/>
              <a:ext cx="3324301" cy="378823"/>
              <a:chOff x="0" y="0"/>
              <a:chExt cx="971647" cy="1107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71647" cy="110725"/>
              </a:xfrm>
              <a:custGeom>
                <a:avLst/>
                <a:gdLst/>
                <a:ahLst/>
                <a:cxnLst/>
                <a:rect r="r" b="b" t="t" l="l"/>
                <a:pathLst>
                  <a:path h="110725" w="971647">
                    <a:moveTo>
                      <a:pt x="55362" y="0"/>
                    </a:moveTo>
                    <a:lnTo>
                      <a:pt x="916285" y="0"/>
                    </a:lnTo>
                    <a:cubicBezTo>
                      <a:pt x="946860" y="0"/>
                      <a:pt x="971647" y="24787"/>
                      <a:pt x="971647" y="55362"/>
                    </a:cubicBezTo>
                    <a:lnTo>
                      <a:pt x="971647" y="55362"/>
                    </a:lnTo>
                    <a:cubicBezTo>
                      <a:pt x="971647" y="85938"/>
                      <a:pt x="946860" y="110725"/>
                      <a:pt x="916285" y="110725"/>
                    </a:cubicBezTo>
                    <a:lnTo>
                      <a:pt x="55362" y="110725"/>
                    </a:lnTo>
                    <a:cubicBezTo>
                      <a:pt x="24787" y="110725"/>
                      <a:pt x="0" y="85938"/>
                      <a:pt x="0" y="55362"/>
                    </a:cubicBezTo>
                    <a:lnTo>
                      <a:pt x="0" y="55362"/>
                    </a:lnTo>
                    <a:cubicBezTo>
                      <a:pt x="0" y="24787"/>
                      <a:pt x="24787" y="0"/>
                      <a:pt x="553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71647" cy="148825"/>
              </a:xfrm>
              <a:prstGeom prst="rect">
                <a:avLst/>
              </a:prstGeom>
            </p:spPr>
            <p:txBody>
              <a:bodyPr anchor="ctr" rtlCol="false" tIns="57129" lIns="57129" bIns="57129" rIns="571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796878" y="679333"/>
              <a:ext cx="2818256" cy="3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7"/>
                </a:lnSpc>
              </a:pPr>
              <a:r>
                <a:rPr lang="en-US" b="true" sz="1689" spc="-50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Fund Manager Login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2543856" y="1355802"/>
              <a:ext cx="3324301" cy="378823"/>
              <a:chOff x="0" y="0"/>
              <a:chExt cx="971647" cy="11072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71647" cy="110725"/>
              </a:xfrm>
              <a:custGeom>
                <a:avLst/>
                <a:gdLst/>
                <a:ahLst/>
                <a:cxnLst/>
                <a:rect r="r" b="b" t="t" l="l"/>
                <a:pathLst>
                  <a:path h="110725" w="971647">
                    <a:moveTo>
                      <a:pt x="55362" y="0"/>
                    </a:moveTo>
                    <a:lnTo>
                      <a:pt x="916285" y="0"/>
                    </a:lnTo>
                    <a:cubicBezTo>
                      <a:pt x="946860" y="0"/>
                      <a:pt x="971647" y="24787"/>
                      <a:pt x="971647" y="55362"/>
                    </a:cubicBezTo>
                    <a:lnTo>
                      <a:pt x="971647" y="55362"/>
                    </a:lnTo>
                    <a:cubicBezTo>
                      <a:pt x="971647" y="85938"/>
                      <a:pt x="946860" y="110725"/>
                      <a:pt x="916285" y="110725"/>
                    </a:cubicBezTo>
                    <a:lnTo>
                      <a:pt x="55362" y="110725"/>
                    </a:lnTo>
                    <a:cubicBezTo>
                      <a:pt x="24787" y="110725"/>
                      <a:pt x="0" y="85938"/>
                      <a:pt x="0" y="55362"/>
                    </a:cubicBezTo>
                    <a:lnTo>
                      <a:pt x="0" y="55362"/>
                    </a:lnTo>
                    <a:cubicBezTo>
                      <a:pt x="0" y="24787"/>
                      <a:pt x="24787" y="0"/>
                      <a:pt x="553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71647" cy="148825"/>
              </a:xfrm>
              <a:prstGeom prst="rect">
                <a:avLst/>
              </a:prstGeom>
            </p:spPr>
            <p:txBody>
              <a:bodyPr anchor="ctr" rtlCol="false" tIns="57129" lIns="57129" bIns="57129" rIns="571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796878" y="1355802"/>
              <a:ext cx="2818256" cy="3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7"/>
                </a:lnSpc>
              </a:pPr>
              <a:r>
                <a:rPr lang="en-US" b="true" sz="1689" spc="-50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Dashboard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2543856" y="2032272"/>
              <a:ext cx="3324301" cy="378823"/>
              <a:chOff x="0" y="0"/>
              <a:chExt cx="971647" cy="11072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71647" cy="110725"/>
              </a:xfrm>
              <a:custGeom>
                <a:avLst/>
                <a:gdLst/>
                <a:ahLst/>
                <a:cxnLst/>
                <a:rect r="r" b="b" t="t" l="l"/>
                <a:pathLst>
                  <a:path h="110725" w="971647">
                    <a:moveTo>
                      <a:pt x="55362" y="0"/>
                    </a:moveTo>
                    <a:lnTo>
                      <a:pt x="916285" y="0"/>
                    </a:lnTo>
                    <a:cubicBezTo>
                      <a:pt x="946860" y="0"/>
                      <a:pt x="971647" y="24787"/>
                      <a:pt x="971647" y="55362"/>
                    </a:cubicBezTo>
                    <a:lnTo>
                      <a:pt x="971647" y="55362"/>
                    </a:lnTo>
                    <a:cubicBezTo>
                      <a:pt x="971647" y="85938"/>
                      <a:pt x="946860" y="110725"/>
                      <a:pt x="916285" y="110725"/>
                    </a:cubicBezTo>
                    <a:lnTo>
                      <a:pt x="55362" y="110725"/>
                    </a:lnTo>
                    <a:cubicBezTo>
                      <a:pt x="24787" y="110725"/>
                      <a:pt x="0" y="85938"/>
                      <a:pt x="0" y="55362"/>
                    </a:cubicBezTo>
                    <a:lnTo>
                      <a:pt x="0" y="55362"/>
                    </a:lnTo>
                    <a:cubicBezTo>
                      <a:pt x="0" y="24787"/>
                      <a:pt x="24787" y="0"/>
                      <a:pt x="553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971647" cy="148825"/>
              </a:xfrm>
              <a:prstGeom prst="rect">
                <a:avLst/>
              </a:prstGeom>
            </p:spPr>
            <p:txBody>
              <a:bodyPr anchor="ctr" rtlCol="false" tIns="57129" lIns="57129" bIns="57129" rIns="571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796878" y="2032272"/>
              <a:ext cx="2818256" cy="3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7"/>
                </a:lnSpc>
              </a:pPr>
              <a:r>
                <a:rPr lang="en-US" b="true" sz="1689" spc="-50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View Security Master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2543856" y="2708741"/>
              <a:ext cx="3536587" cy="378823"/>
              <a:chOff x="0" y="0"/>
              <a:chExt cx="1033695" cy="11072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33695" cy="110725"/>
              </a:xfrm>
              <a:custGeom>
                <a:avLst/>
                <a:gdLst/>
                <a:ahLst/>
                <a:cxnLst/>
                <a:rect r="r" b="b" t="t" l="l"/>
                <a:pathLst>
                  <a:path h="110725" w="1033695">
                    <a:moveTo>
                      <a:pt x="52621" y="0"/>
                    </a:moveTo>
                    <a:lnTo>
                      <a:pt x="981075" y="0"/>
                    </a:lnTo>
                    <a:cubicBezTo>
                      <a:pt x="995030" y="0"/>
                      <a:pt x="1008415" y="5544"/>
                      <a:pt x="1018283" y="15412"/>
                    </a:cubicBezTo>
                    <a:cubicBezTo>
                      <a:pt x="1028151" y="25281"/>
                      <a:pt x="1033695" y="38665"/>
                      <a:pt x="1033695" y="52621"/>
                    </a:cubicBezTo>
                    <a:lnTo>
                      <a:pt x="1033695" y="58104"/>
                    </a:lnTo>
                    <a:cubicBezTo>
                      <a:pt x="1033695" y="87166"/>
                      <a:pt x="1010136" y="110725"/>
                      <a:pt x="981075" y="110725"/>
                    </a:cubicBezTo>
                    <a:lnTo>
                      <a:pt x="52621" y="110725"/>
                    </a:lnTo>
                    <a:cubicBezTo>
                      <a:pt x="23559" y="110725"/>
                      <a:pt x="0" y="87166"/>
                      <a:pt x="0" y="58104"/>
                    </a:cubicBezTo>
                    <a:lnTo>
                      <a:pt x="0" y="52621"/>
                    </a:lnTo>
                    <a:cubicBezTo>
                      <a:pt x="0" y="23559"/>
                      <a:pt x="23559" y="0"/>
                      <a:pt x="526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33695" cy="148825"/>
              </a:xfrm>
              <a:prstGeom prst="rect">
                <a:avLst/>
              </a:prstGeom>
            </p:spPr>
            <p:txBody>
              <a:bodyPr anchor="ctr" rtlCol="false" tIns="57129" lIns="57129" bIns="57129" rIns="571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796878" y="2708741"/>
              <a:ext cx="3071279" cy="3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7"/>
                </a:lnSpc>
              </a:pPr>
              <a:r>
                <a:rPr lang="en-US" b="true" sz="1689" spc="-50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Portfolio Creatiomn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2013141" y="3385210"/>
              <a:ext cx="4598017" cy="325751"/>
              <a:chOff x="0" y="0"/>
              <a:chExt cx="1343936" cy="9521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343936" cy="95213"/>
              </a:xfrm>
              <a:custGeom>
                <a:avLst/>
                <a:gdLst/>
                <a:ahLst/>
                <a:cxnLst/>
                <a:rect r="r" b="b" t="t" l="l"/>
                <a:pathLst>
                  <a:path h="95213" w="1343936">
                    <a:moveTo>
                      <a:pt x="40474" y="0"/>
                    </a:moveTo>
                    <a:lnTo>
                      <a:pt x="1303463" y="0"/>
                    </a:lnTo>
                    <a:cubicBezTo>
                      <a:pt x="1325816" y="0"/>
                      <a:pt x="1343936" y="18121"/>
                      <a:pt x="1343936" y="40474"/>
                    </a:cubicBezTo>
                    <a:lnTo>
                      <a:pt x="1343936" y="54739"/>
                    </a:lnTo>
                    <a:cubicBezTo>
                      <a:pt x="1343936" y="65473"/>
                      <a:pt x="1339672" y="75768"/>
                      <a:pt x="1332082" y="83358"/>
                    </a:cubicBezTo>
                    <a:cubicBezTo>
                      <a:pt x="1324492" y="90948"/>
                      <a:pt x="1314197" y="95213"/>
                      <a:pt x="1303463" y="95213"/>
                    </a:cubicBezTo>
                    <a:lnTo>
                      <a:pt x="40474" y="95213"/>
                    </a:lnTo>
                    <a:cubicBezTo>
                      <a:pt x="29739" y="95213"/>
                      <a:pt x="19445" y="90948"/>
                      <a:pt x="11854" y="83358"/>
                    </a:cubicBezTo>
                    <a:cubicBezTo>
                      <a:pt x="4264" y="75768"/>
                      <a:pt x="0" y="65473"/>
                      <a:pt x="0" y="54739"/>
                    </a:cubicBezTo>
                    <a:lnTo>
                      <a:pt x="0" y="40474"/>
                    </a:lnTo>
                    <a:cubicBezTo>
                      <a:pt x="0" y="29739"/>
                      <a:pt x="4264" y="19445"/>
                      <a:pt x="11854" y="11854"/>
                    </a:cubicBezTo>
                    <a:cubicBezTo>
                      <a:pt x="19445" y="4264"/>
                      <a:pt x="29739" y="0"/>
                      <a:pt x="404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343936" cy="133313"/>
              </a:xfrm>
              <a:prstGeom prst="rect">
                <a:avLst/>
              </a:prstGeom>
            </p:spPr>
            <p:txBody>
              <a:bodyPr anchor="ctr" rtlCol="false" tIns="57129" lIns="57129" bIns="57129" rIns="57129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266163" y="3385210"/>
              <a:ext cx="4065436" cy="36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7"/>
                </a:lnSpc>
              </a:pPr>
              <a:r>
                <a:rPr lang="en-US" b="true" sz="1689" spc="-50">
                  <a:solidFill>
                    <a:srgbClr val="1B1B1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Is Deviation &gt; 5%</a:t>
              </a:r>
            </a:p>
          </p:txBody>
        </p:sp>
        <p:sp>
          <p:nvSpPr>
            <p:cNvPr name="AutoShape 37" id="37"/>
            <p:cNvSpPr/>
            <p:nvPr/>
          </p:nvSpPr>
          <p:spPr>
            <a:xfrm>
              <a:off x="4186926" y="378823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4206006" y="1027922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4225086" y="1734625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4225086" y="2411094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4244166" y="3063991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2" id="42"/>
            <p:cNvSpPr/>
            <p:nvPr/>
          </p:nvSpPr>
          <p:spPr>
            <a:xfrm flipV="true">
              <a:off x="0" y="3935163"/>
              <a:ext cx="7994678" cy="0"/>
            </a:xfrm>
            <a:prstGeom prst="line">
              <a:avLst/>
            </a:prstGeom>
            <a:ln cap="flat" w="30528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H="true">
              <a:off x="4240350" y="3645277"/>
              <a:ext cx="0" cy="263142"/>
            </a:xfrm>
            <a:prstGeom prst="line">
              <a:avLst/>
            </a:prstGeom>
            <a:ln cap="flat" w="30528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9080" y="3935163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7975598" y="3935163"/>
              <a:ext cx="0" cy="355250"/>
            </a:xfrm>
            <a:prstGeom prst="line">
              <a:avLst/>
            </a:prstGeom>
            <a:ln cap="flat" w="3816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432131" y="5647155"/>
            <a:ext cx="3419748" cy="389699"/>
            <a:chOff x="0" y="0"/>
            <a:chExt cx="971647" cy="11072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47089" lIns="47089" bIns="47089" rIns="4708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692418" y="5647155"/>
            <a:ext cx="2899173" cy="37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b="true" sz="2317" spc="-6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Continue Monitoring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010443" y="5647155"/>
            <a:ext cx="2337173" cy="266334"/>
            <a:chOff x="0" y="0"/>
            <a:chExt cx="971647" cy="1107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10443" y="6132100"/>
            <a:ext cx="2337173" cy="266334"/>
            <a:chOff x="0" y="0"/>
            <a:chExt cx="971647" cy="1107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5188332" y="6132100"/>
            <a:ext cx="2077942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Calculate Rebalancing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010443" y="6615666"/>
            <a:ext cx="2337173" cy="266334"/>
            <a:chOff x="0" y="0"/>
            <a:chExt cx="971647" cy="1107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010443" y="7099232"/>
            <a:ext cx="2337173" cy="266334"/>
            <a:chOff x="0" y="0"/>
            <a:chExt cx="971647" cy="1107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4861304" y="7121992"/>
            <a:ext cx="2582859" cy="1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b="true" sz="1283" spc="-38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Security Suggestions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4648681" y="7582797"/>
            <a:ext cx="3253791" cy="259471"/>
            <a:chOff x="0" y="0"/>
            <a:chExt cx="1352718" cy="1078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52718" cy="107872"/>
            </a:xfrm>
            <a:custGeom>
              <a:avLst/>
              <a:gdLst/>
              <a:ahLst/>
              <a:cxnLst/>
              <a:rect r="r" b="b" t="t" l="l"/>
              <a:pathLst>
                <a:path h="107872" w="1352718">
                  <a:moveTo>
                    <a:pt x="53936" y="0"/>
                  </a:moveTo>
                  <a:lnTo>
                    <a:pt x="1298782" y="0"/>
                  </a:lnTo>
                  <a:cubicBezTo>
                    <a:pt x="1313087" y="0"/>
                    <a:pt x="1326806" y="5683"/>
                    <a:pt x="1336921" y="15797"/>
                  </a:cubicBezTo>
                  <a:cubicBezTo>
                    <a:pt x="1347036" y="25912"/>
                    <a:pt x="1352718" y="39631"/>
                    <a:pt x="1352718" y="53936"/>
                  </a:cubicBezTo>
                  <a:lnTo>
                    <a:pt x="1352718" y="53936"/>
                  </a:lnTo>
                  <a:cubicBezTo>
                    <a:pt x="1352718" y="68240"/>
                    <a:pt x="1347036" y="81959"/>
                    <a:pt x="1336921" y="92074"/>
                  </a:cubicBezTo>
                  <a:cubicBezTo>
                    <a:pt x="1326806" y="102189"/>
                    <a:pt x="1313087" y="107872"/>
                    <a:pt x="1298782" y="107872"/>
                  </a:cubicBezTo>
                  <a:lnTo>
                    <a:pt x="53936" y="107872"/>
                  </a:lnTo>
                  <a:cubicBezTo>
                    <a:pt x="39631" y="107872"/>
                    <a:pt x="25912" y="102189"/>
                    <a:pt x="15797" y="92074"/>
                  </a:cubicBezTo>
                  <a:cubicBezTo>
                    <a:pt x="5683" y="81959"/>
                    <a:pt x="0" y="68240"/>
                    <a:pt x="0" y="53936"/>
                  </a:cubicBezTo>
                  <a:lnTo>
                    <a:pt x="0" y="53936"/>
                  </a:lnTo>
                  <a:cubicBezTo>
                    <a:pt x="0" y="39631"/>
                    <a:pt x="5683" y="25912"/>
                    <a:pt x="15797" y="15797"/>
                  </a:cubicBezTo>
                  <a:cubicBezTo>
                    <a:pt x="25912" y="5683"/>
                    <a:pt x="39631" y="0"/>
                    <a:pt x="539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352718" cy="145972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4826570" y="7582797"/>
            <a:ext cx="2944620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Fund Manager Action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5010443" y="8059501"/>
            <a:ext cx="2337173" cy="266334"/>
            <a:chOff x="0" y="0"/>
            <a:chExt cx="971647" cy="1107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5111456" y="8059501"/>
            <a:ext cx="2159284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Calculate Portfolio P/L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5106990" y="8543067"/>
            <a:ext cx="2337173" cy="266334"/>
            <a:chOff x="0" y="0"/>
            <a:chExt cx="971647" cy="11072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1647" cy="110725"/>
            </a:xfrm>
            <a:custGeom>
              <a:avLst/>
              <a:gdLst/>
              <a:ahLst/>
              <a:cxnLst/>
              <a:rect r="r" b="b" t="t" l="l"/>
              <a:pathLst>
                <a:path h="110725" w="971647">
                  <a:moveTo>
                    <a:pt x="55362" y="0"/>
                  </a:moveTo>
                  <a:lnTo>
                    <a:pt x="916285" y="0"/>
                  </a:lnTo>
                  <a:cubicBezTo>
                    <a:pt x="946860" y="0"/>
                    <a:pt x="971647" y="24787"/>
                    <a:pt x="971647" y="55362"/>
                  </a:cubicBezTo>
                  <a:lnTo>
                    <a:pt x="971647" y="55362"/>
                  </a:lnTo>
                  <a:cubicBezTo>
                    <a:pt x="971647" y="85938"/>
                    <a:pt x="946860" y="110725"/>
                    <a:pt x="916285" y="110725"/>
                  </a:cubicBezTo>
                  <a:lnTo>
                    <a:pt x="55362" y="110725"/>
                  </a:lnTo>
                  <a:cubicBezTo>
                    <a:pt x="24787" y="110725"/>
                    <a:pt x="0" y="85938"/>
                    <a:pt x="0" y="55362"/>
                  </a:cubicBezTo>
                  <a:lnTo>
                    <a:pt x="0" y="55362"/>
                  </a:lnTo>
                  <a:cubicBezTo>
                    <a:pt x="0" y="24787"/>
                    <a:pt x="24787" y="0"/>
                    <a:pt x="5536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1647" cy="148825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5208003" y="8543067"/>
            <a:ext cx="2062736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0"/>
              </a:lnSpc>
            </a:pPr>
            <a:r>
              <a:rPr lang="en-US" b="true" sz="1383" spc="-4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Calculate Porrfolio Return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4760765" y="9026632"/>
            <a:ext cx="3253791" cy="259471"/>
            <a:chOff x="0" y="0"/>
            <a:chExt cx="1352718" cy="1078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52718" cy="107872"/>
            </a:xfrm>
            <a:custGeom>
              <a:avLst/>
              <a:gdLst/>
              <a:ahLst/>
              <a:cxnLst/>
              <a:rect r="r" b="b" t="t" l="l"/>
              <a:pathLst>
                <a:path h="107872" w="1352718">
                  <a:moveTo>
                    <a:pt x="53936" y="0"/>
                  </a:moveTo>
                  <a:lnTo>
                    <a:pt x="1298782" y="0"/>
                  </a:lnTo>
                  <a:cubicBezTo>
                    <a:pt x="1313087" y="0"/>
                    <a:pt x="1326806" y="5683"/>
                    <a:pt x="1336921" y="15797"/>
                  </a:cubicBezTo>
                  <a:cubicBezTo>
                    <a:pt x="1347036" y="25912"/>
                    <a:pt x="1352718" y="39631"/>
                    <a:pt x="1352718" y="53936"/>
                  </a:cubicBezTo>
                  <a:lnTo>
                    <a:pt x="1352718" y="53936"/>
                  </a:lnTo>
                  <a:cubicBezTo>
                    <a:pt x="1352718" y="68240"/>
                    <a:pt x="1347036" y="81959"/>
                    <a:pt x="1336921" y="92074"/>
                  </a:cubicBezTo>
                  <a:cubicBezTo>
                    <a:pt x="1326806" y="102189"/>
                    <a:pt x="1313087" y="107872"/>
                    <a:pt x="1298782" y="107872"/>
                  </a:cubicBezTo>
                  <a:lnTo>
                    <a:pt x="53936" y="107872"/>
                  </a:lnTo>
                  <a:cubicBezTo>
                    <a:pt x="39631" y="107872"/>
                    <a:pt x="25912" y="102189"/>
                    <a:pt x="15797" y="92074"/>
                  </a:cubicBezTo>
                  <a:cubicBezTo>
                    <a:pt x="5683" y="81959"/>
                    <a:pt x="0" y="68240"/>
                    <a:pt x="0" y="53936"/>
                  </a:cubicBezTo>
                  <a:lnTo>
                    <a:pt x="0" y="53936"/>
                  </a:lnTo>
                  <a:cubicBezTo>
                    <a:pt x="0" y="39631"/>
                    <a:pt x="5683" y="25912"/>
                    <a:pt x="15797" y="15797"/>
                  </a:cubicBezTo>
                  <a:cubicBezTo>
                    <a:pt x="25912" y="5683"/>
                    <a:pt x="39631" y="0"/>
                    <a:pt x="539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352718" cy="145972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4938654" y="9026632"/>
            <a:ext cx="2944620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Compare with NIFTY 50 Return</a:t>
            </a:r>
          </a:p>
        </p:txBody>
      </p:sp>
      <p:sp>
        <p:nvSpPr>
          <p:cNvPr name="AutoShape 80" id="80"/>
          <p:cNvSpPr/>
          <p:nvPr/>
        </p:nvSpPr>
        <p:spPr>
          <a:xfrm>
            <a:off x="6166961" y="5928943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>
            <a:off x="6179029" y="6403301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2" id="82"/>
          <p:cNvSpPr/>
          <p:nvPr/>
        </p:nvSpPr>
        <p:spPr>
          <a:xfrm>
            <a:off x="6166961" y="6900102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3" id="83"/>
          <p:cNvSpPr/>
          <p:nvPr/>
        </p:nvSpPr>
        <p:spPr>
          <a:xfrm>
            <a:off x="6179029" y="7383668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4" id="84"/>
          <p:cNvSpPr/>
          <p:nvPr/>
        </p:nvSpPr>
        <p:spPr>
          <a:xfrm>
            <a:off x="6191098" y="7860371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5" id="85"/>
          <p:cNvSpPr/>
          <p:nvPr/>
        </p:nvSpPr>
        <p:spPr>
          <a:xfrm>
            <a:off x="6191098" y="8343937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6" id="86"/>
          <p:cNvSpPr/>
          <p:nvPr/>
        </p:nvSpPr>
        <p:spPr>
          <a:xfrm>
            <a:off x="6191098" y="8828682"/>
            <a:ext cx="0" cy="21236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7" id="87"/>
          <p:cNvSpPr/>
          <p:nvPr/>
        </p:nvSpPr>
        <p:spPr>
          <a:xfrm flipH="true">
            <a:off x="6185063" y="9310609"/>
            <a:ext cx="12068" cy="39489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8" id="88"/>
          <p:cNvGrpSpPr/>
          <p:nvPr/>
        </p:nvGrpSpPr>
        <p:grpSpPr>
          <a:xfrm rot="0">
            <a:off x="5753162" y="9734520"/>
            <a:ext cx="785666" cy="274961"/>
            <a:chOff x="0" y="0"/>
            <a:chExt cx="326630" cy="1143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6630" cy="114311"/>
            </a:xfrm>
            <a:custGeom>
              <a:avLst/>
              <a:gdLst/>
              <a:ahLst/>
              <a:cxnLst/>
              <a:rect r="r" b="b" t="t" l="l"/>
              <a:pathLst>
                <a:path h="114311" w="326630">
                  <a:moveTo>
                    <a:pt x="57156" y="0"/>
                  </a:moveTo>
                  <a:lnTo>
                    <a:pt x="269474" y="0"/>
                  </a:lnTo>
                  <a:cubicBezTo>
                    <a:pt x="301040" y="0"/>
                    <a:pt x="326630" y="25589"/>
                    <a:pt x="326630" y="57156"/>
                  </a:cubicBezTo>
                  <a:lnTo>
                    <a:pt x="326630" y="57156"/>
                  </a:lnTo>
                  <a:cubicBezTo>
                    <a:pt x="326630" y="88722"/>
                    <a:pt x="301040" y="114311"/>
                    <a:pt x="269474" y="114311"/>
                  </a:cubicBezTo>
                  <a:lnTo>
                    <a:pt x="57156" y="114311"/>
                  </a:lnTo>
                  <a:cubicBezTo>
                    <a:pt x="25589" y="114311"/>
                    <a:pt x="0" y="88722"/>
                    <a:pt x="0" y="57156"/>
                  </a:cubicBezTo>
                  <a:lnTo>
                    <a:pt x="0" y="57156"/>
                  </a:lnTo>
                  <a:cubicBezTo>
                    <a:pt x="0" y="25589"/>
                    <a:pt x="25589" y="0"/>
                    <a:pt x="5715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26630" cy="152411"/>
            </a:xfrm>
            <a:prstGeom prst="rect">
              <a:avLst/>
            </a:prstGeom>
          </p:spPr>
          <p:txBody>
            <a:bodyPr anchor="ctr" rtlCol="false" tIns="32182" lIns="32182" bIns="32182" rIns="3218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5786065" y="9705509"/>
            <a:ext cx="719861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End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188332" y="5647155"/>
            <a:ext cx="1981395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Generate Alert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188332" y="6615666"/>
            <a:ext cx="1981395" cy="25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583" spc="-47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 / DEC / RED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752358" y="5095056"/>
            <a:ext cx="252834" cy="19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5"/>
              </a:lnSpc>
              <a:spcBef>
                <a:spcPct val="0"/>
              </a:spcBef>
            </a:pPr>
            <a:r>
              <a:rPr lang="en-US" b="true" sz="1203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610104" y="5095056"/>
            <a:ext cx="215346" cy="19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5"/>
              </a:lnSpc>
              <a:spcBef>
                <a:spcPct val="0"/>
              </a:spcBef>
            </a:pPr>
            <a:r>
              <a:rPr lang="en-US" b="true" sz="1203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F0828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7374" y="2622442"/>
            <a:ext cx="8107621" cy="6635858"/>
            <a:chOff x="0" y="0"/>
            <a:chExt cx="2135341" cy="17477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5341" cy="1747716"/>
            </a:xfrm>
            <a:custGeom>
              <a:avLst/>
              <a:gdLst/>
              <a:ahLst/>
              <a:cxnLst/>
              <a:rect r="r" b="b" t="t" l="l"/>
              <a:pathLst>
                <a:path h="1747716" w="2135341">
                  <a:moveTo>
                    <a:pt x="28647" y="0"/>
                  </a:moveTo>
                  <a:lnTo>
                    <a:pt x="2106694" y="0"/>
                  </a:lnTo>
                  <a:cubicBezTo>
                    <a:pt x="2122515" y="0"/>
                    <a:pt x="2135341" y="12826"/>
                    <a:pt x="2135341" y="28647"/>
                  </a:cubicBezTo>
                  <a:lnTo>
                    <a:pt x="2135341" y="1719069"/>
                  </a:lnTo>
                  <a:cubicBezTo>
                    <a:pt x="2135341" y="1734890"/>
                    <a:pt x="2122515" y="1747716"/>
                    <a:pt x="2106694" y="1747716"/>
                  </a:cubicBezTo>
                  <a:lnTo>
                    <a:pt x="28647" y="1747716"/>
                  </a:lnTo>
                  <a:cubicBezTo>
                    <a:pt x="12826" y="1747716"/>
                    <a:pt x="0" y="1734890"/>
                    <a:pt x="0" y="1719069"/>
                  </a:cubicBezTo>
                  <a:lnTo>
                    <a:pt x="0" y="28647"/>
                  </a:lnTo>
                  <a:cubicBezTo>
                    <a:pt x="0" y="12826"/>
                    <a:pt x="12826" y="0"/>
                    <a:pt x="286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5341" cy="178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374" y="2622442"/>
            <a:ext cx="4053811" cy="3317929"/>
            <a:chOff x="0" y="0"/>
            <a:chExt cx="1067670" cy="873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670" cy="873858"/>
            </a:xfrm>
            <a:custGeom>
              <a:avLst/>
              <a:gdLst/>
              <a:ahLst/>
              <a:cxnLst/>
              <a:rect r="r" b="b" t="t" l="l"/>
              <a:pathLst>
                <a:path h="873858" w="1067670">
                  <a:moveTo>
                    <a:pt x="57294" y="0"/>
                  </a:moveTo>
                  <a:lnTo>
                    <a:pt x="1010377" y="0"/>
                  </a:lnTo>
                  <a:cubicBezTo>
                    <a:pt x="1025572" y="0"/>
                    <a:pt x="1040145" y="6036"/>
                    <a:pt x="1050889" y="16781"/>
                  </a:cubicBezTo>
                  <a:cubicBezTo>
                    <a:pt x="1061634" y="27526"/>
                    <a:pt x="1067670" y="42098"/>
                    <a:pt x="1067670" y="57294"/>
                  </a:cubicBezTo>
                  <a:lnTo>
                    <a:pt x="1067670" y="816564"/>
                  </a:lnTo>
                  <a:cubicBezTo>
                    <a:pt x="1067670" y="831759"/>
                    <a:pt x="1061634" y="846332"/>
                    <a:pt x="1050889" y="857077"/>
                  </a:cubicBezTo>
                  <a:cubicBezTo>
                    <a:pt x="1040145" y="867822"/>
                    <a:pt x="1025572" y="873858"/>
                    <a:pt x="1010377" y="873858"/>
                  </a:cubicBezTo>
                  <a:lnTo>
                    <a:pt x="57294" y="873858"/>
                  </a:lnTo>
                  <a:cubicBezTo>
                    <a:pt x="42098" y="873858"/>
                    <a:pt x="27526" y="867822"/>
                    <a:pt x="16781" y="857077"/>
                  </a:cubicBezTo>
                  <a:cubicBezTo>
                    <a:pt x="6036" y="846332"/>
                    <a:pt x="0" y="831759"/>
                    <a:pt x="0" y="816564"/>
                  </a:cubicBezTo>
                  <a:lnTo>
                    <a:pt x="0" y="57294"/>
                  </a:lnTo>
                  <a:cubicBezTo>
                    <a:pt x="0" y="42098"/>
                    <a:pt x="6036" y="27526"/>
                    <a:pt x="16781" y="16781"/>
                  </a:cubicBezTo>
                  <a:cubicBezTo>
                    <a:pt x="27526" y="6036"/>
                    <a:pt x="42098" y="0"/>
                    <a:pt x="5729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7670" cy="911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7374" y="5907353"/>
            <a:ext cx="4053811" cy="3350947"/>
            <a:chOff x="0" y="0"/>
            <a:chExt cx="1067670" cy="882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7670" cy="882554"/>
            </a:xfrm>
            <a:custGeom>
              <a:avLst/>
              <a:gdLst/>
              <a:ahLst/>
              <a:cxnLst/>
              <a:rect r="r" b="b" t="t" l="l"/>
              <a:pathLst>
                <a:path h="882554" w="1067670">
                  <a:moveTo>
                    <a:pt x="57294" y="0"/>
                  </a:moveTo>
                  <a:lnTo>
                    <a:pt x="1010377" y="0"/>
                  </a:lnTo>
                  <a:cubicBezTo>
                    <a:pt x="1025572" y="0"/>
                    <a:pt x="1040145" y="6036"/>
                    <a:pt x="1050889" y="16781"/>
                  </a:cubicBezTo>
                  <a:cubicBezTo>
                    <a:pt x="1061634" y="27526"/>
                    <a:pt x="1067670" y="42098"/>
                    <a:pt x="1067670" y="57294"/>
                  </a:cubicBezTo>
                  <a:lnTo>
                    <a:pt x="1067670" y="825260"/>
                  </a:lnTo>
                  <a:cubicBezTo>
                    <a:pt x="1067670" y="840455"/>
                    <a:pt x="1061634" y="855028"/>
                    <a:pt x="1050889" y="865773"/>
                  </a:cubicBezTo>
                  <a:cubicBezTo>
                    <a:pt x="1040145" y="876518"/>
                    <a:pt x="1025572" y="882554"/>
                    <a:pt x="1010377" y="882554"/>
                  </a:cubicBezTo>
                  <a:lnTo>
                    <a:pt x="57294" y="882554"/>
                  </a:lnTo>
                  <a:cubicBezTo>
                    <a:pt x="42098" y="882554"/>
                    <a:pt x="27526" y="876518"/>
                    <a:pt x="16781" y="865773"/>
                  </a:cubicBezTo>
                  <a:cubicBezTo>
                    <a:pt x="6036" y="855028"/>
                    <a:pt x="0" y="840455"/>
                    <a:pt x="0" y="825260"/>
                  </a:cubicBezTo>
                  <a:lnTo>
                    <a:pt x="0" y="57294"/>
                  </a:lnTo>
                  <a:cubicBezTo>
                    <a:pt x="0" y="42098"/>
                    <a:pt x="6036" y="27526"/>
                    <a:pt x="16781" y="16781"/>
                  </a:cubicBezTo>
                  <a:cubicBezTo>
                    <a:pt x="27526" y="6036"/>
                    <a:pt x="42098" y="0"/>
                    <a:pt x="5729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7670" cy="9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51185" y="2622442"/>
            <a:ext cx="4053811" cy="3317929"/>
            <a:chOff x="0" y="0"/>
            <a:chExt cx="1067670" cy="8738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7670" cy="873858"/>
            </a:xfrm>
            <a:custGeom>
              <a:avLst/>
              <a:gdLst/>
              <a:ahLst/>
              <a:cxnLst/>
              <a:rect r="r" b="b" t="t" l="l"/>
              <a:pathLst>
                <a:path h="873858" w="1067670">
                  <a:moveTo>
                    <a:pt x="57294" y="0"/>
                  </a:moveTo>
                  <a:lnTo>
                    <a:pt x="1010377" y="0"/>
                  </a:lnTo>
                  <a:cubicBezTo>
                    <a:pt x="1025572" y="0"/>
                    <a:pt x="1040145" y="6036"/>
                    <a:pt x="1050889" y="16781"/>
                  </a:cubicBezTo>
                  <a:cubicBezTo>
                    <a:pt x="1061634" y="27526"/>
                    <a:pt x="1067670" y="42098"/>
                    <a:pt x="1067670" y="57294"/>
                  </a:cubicBezTo>
                  <a:lnTo>
                    <a:pt x="1067670" y="816564"/>
                  </a:lnTo>
                  <a:cubicBezTo>
                    <a:pt x="1067670" y="831759"/>
                    <a:pt x="1061634" y="846332"/>
                    <a:pt x="1050889" y="857077"/>
                  </a:cubicBezTo>
                  <a:cubicBezTo>
                    <a:pt x="1040145" y="867822"/>
                    <a:pt x="1025572" y="873858"/>
                    <a:pt x="1010377" y="873858"/>
                  </a:cubicBezTo>
                  <a:lnTo>
                    <a:pt x="57294" y="873858"/>
                  </a:lnTo>
                  <a:cubicBezTo>
                    <a:pt x="42098" y="873858"/>
                    <a:pt x="27526" y="867822"/>
                    <a:pt x="16781" y="857077"/>
                  </a:cubicBezTo>
                  <a:cubicBezTo>
                    <a:pt x="6036" y="846332"/>
                    <a:pt x="0" y="831759"/>
                    <a:pt x="0" y="816564"/>
                  </a:cubicBezTo>
                  <a:lnTo>
                    <a:pt x="0" y="57294"/>
                  </a:lnTo>
                  <a:cubicBezTo>
                    <a:pt x="0" y="42098"/>
                    <a:pt x="6036" y="27526"/>
                    <a:pt x="16781" y="16781"/>
                  </a:cubicBezTo>
                  <a:cubicBezTo>
                    <a:pt x="27526" y="6036"/>
                    <a:pt x="42098" y="0"/>
                    <a:pt x="5729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67670" cy="911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51185" y="5907353"/>
            <a:ext cx="4053811" cy="3317929"/>
            <a:chOff x="0" y="0"/>
            <a:chExt cx="1067670" cy="8738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670" cy="873858"/>
            </a:xfrm>
            <a:custGeom>
              <a:avLst/>
              <a:gdLst/>
              <a:ahLst/>
              <a:cxnLst/>
              <a:rect r="r" b="b" t="t" l="l"/>
              <a:pathLst>
                <a:path h="873858" w="1067670">
                  <a:moveTo>
                    <a:pt x="57294" y="0"/>
                  </a:moveTo>
                  <a:lnTo>
                    <a:pt x="1010377" y="0"/>
                  </a:lnTo>
                  <a:cubicBezTo>
                    <a:pt x="1025572" y="0"/>
                    <a:pt x="1040145" y="6036"/>
                    <a:pt x="1050889" y="16781"/>
                  </a:cubicBezTo>
                  <a:cubicBezTo>
                    <a:pt x="1061634" y="27526"/>
                    <a:pt x="1067670" y="42098"/>
                    <a:pt x="1067670" y="57294"/>
                  </a:cubicBezTo>
                  <a:lnTo>
                    <a:pt x="1067670" y="816564"/>
                  </a:lnTo>
                  <a:cubicBezTo>
                    <a:pt x="1067670" y="831759"/>
                    <a:pt x="1061634" y="846332"/>
                    <a:pt x="1050889" y="857077"/>
                  </a:cubicBezTo>
                  <a:cubicBezTo>
                    <a:pt x="1040145" y="867822"/>
                    <a:pt x="1025572" y="873858"/>
                    <a:pt x="1010377" y="873858"/>
                  </a:cubicBezTo>
                  <a:lnTo>
                    <a:pt x="57294" y="873858"/>
                  </a:lnTo>
                  <a:cubicBezTo>
                    <a:pt x="42098" y="873858"/>
                    <a:pt x="27526" y="867822"/>
                    <a:pt x="16781" y="857077"/>
                  </a:cubicBezTo>
                  <a:cubicBezTo>
                    <a:pt x="6036" y="846332"/>
                    <a:pt x="0" y="831759"/>
                    <a:pt x="0" y="816564"/>
                  </a:cubicBezTo>
                  <a:lnTo>
                    <a:pt x="0" y="57294"/>
                  </a:lnTo>
                  <a:cubicBezTo>
                    <a:pt x="0" y="42098"/>
                    <a:pt x="6036" y="27526"/>
                    <a:pt x="16781" y="16781"/>
                  </a:cubicBezTo>
                  <a:cubicBezTo>
                    <a:pt x="27526" y="6036"/>
                    <a:pt x="42098" y="0"/>
                    <a:pt x="5729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7670" cy="911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50760" y="2852339"/>
            <a:ext cx="509625" cy="509625"/>
          </a:xfrm>
          <a:custGeom>
            <a:avLst/>
            <a:gdLst/>
            <a:ahLst/>
            <a:cxnLst/>
            <a:rect r="r" b="b" t="t" l="l"/>
            <a:pathLst>
              <a:path h="509625" w="509625">
                <a:moveTo>
                  <a:pt x="0" y="0"/>
                </a:moveTo>
                <a:lnTo>
                  <a:pt x="509625" y="0"/>
                </a:lnTo>
                <a:lnTo>
                  <a:pt x="509625" y="509625"/>
                </a:lnTo>
                <a:lnTo>
                  <a:pt x="0" y="509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683631" y="2852339"/>
            <a:ext cx="461448" cy="461448"/>
          </a:xfrm>
          <a:custGeom>
            <a:avLst/>
            <a:gdLst/>
            <a:ahLst/>
            <a:cxnLst/>
            <a:rect r="r" b="b" t="t" l="l"/>
            <a:pathLst>
              <a:path h="461448" w="461448">
                <a:moveTo>
                  <a:pt x="0" y="0"/>
                </a:moveTo>
                <a:lnTo>
                  <a:pt x="461448" y="0"/>
                </a:lnTo>
                <a:lnTo>
                  <a:pt x="461448" y="461448"/>
                </a:lnTo>
                <a:lnTo>
                  <a:pt x="0" y="461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50760" y="6114264"/>
            <a:ext cx="484862" cy="484862"/>
          </a:xfrm>
          <a:custGeom>
            <a:avLst/>
            <a:gdLst/>
            <a:ahLst/>
            <a:cxnLst/>
            <a:rect r="r" b="b" t="t" l="l"/>
            <a:pathLst>
              <a:path h="484862" w="484862">
                <a:moveTo>
                  <a:pt x="0" y="0"/>
                </a:moveTo>
                <a:lnTo>
                  <a:pt x="484862" y="0"/>
                </a:lnTo>
                <a:lnTo>
                  <a:pt x="484862" y="484862"/>
                </a:lnTo>
                <a:lnTo>
                  <a:pt x="0" y="484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629286" y="6083332"/>
            <a:ext cx="515794" cy="515794"/>
          </a:xfrm>
          <a:custGeom>
            <a:avLst/>
            <a:gdLst/>
            <a:ahLst/>
            <a:cxnLst/>
            <a:rect r="r" b="b" t="t" l="l"/>
            <a:pathLst>
              <a:path h="515794" w="515794">
                <a:moveTo>
                  <a:pt x="0" y="0"/>
                </a:moveTo>
                <a:lnTo>
                  <a:pt x="515793" y="0"/>
                </a:lnTo>
                <a:lnTo>
                  <a:pt x="515793" y="515794"/>
                </a:lnTo>
                <a:lnTo>
                  <a:pt x="0" y="515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291396" y="1446422"/>
            <a:ext cx="8010429" cy="756920"/>
            <a:chOff x="0" y="0"/>
            <a:chExt cx="10680572" cy="1009227"/>
          </a:xfrm>
        </p:grpSpPr>
        <p:grpSp>
          <p:nvGrpSpPr>
            <p:cNvPr name="Group 26" id="26"/>
            <p:cNvGrpSpPr/>
            <p:nvPr/>
          </p:nvGrpSpPr>
          <p:grpSpPr>
            <a:xfrm rot="-5400000">
              <a:off x="5308536" y="-1405020"/>
              <a:ext cx="63500" cy="4764993"/>
              <a:chOff x="0" y="0"/>
              <a:chExt cx="12543" cy="9412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543" cy="941233"/>
              </a:xfrm>
              <a:custGeom>
                <a:avLst/>
                <a:gdLst/>
                <a:ahLst/>
                <a:cxnLst/>
                <a:rect r="r" b="b" t="t" l="l"/>
                <a:pathLst>
                  <a:path h="941233" w="12543">
                    <a:moveTo>
                      <a:pt x="6272" y="0"/>
                    </a:moveTo>
                    <a:lnTo>
                      <a:pt x="6272" y="0"/>
                    </a:lnTo>
                    <a:cubicBezTo>
                      <a:pt x="7935" y="0"/>
                      <a:pt x="9530" y="661"/>
                      <a:pt x="10706" y="1837"/>
                    </a:cubicBezTo>
                    <a:cubicBezTo>
                      <a:pt x="11882" y="3013"/>
                      <a:pt x="12543" y="4608"/>
                      <a:pt x="12543" y="6272"/>
                    </a:cubicBezTo>
                    <a:lnTo>
                      <a:pt x="12543" y="934962"/>
                    </a:lnTo>
                    <a:cubicBezTo>
                      <a:pt x="12543" y="936625"/>
                      <a:pt x="11882" y="938220"/>
                      <a:pt x="10706" y="939396"/>
                    </a:cubicBezTo>
                    <a:cubicBezTo>
                      <a:pt x="9530" y="940573"/>
                      <a:pt x="7935" y="941233"/>
                      <a:pt x="6272" y="941233"/>
                    </a:cubicBezTo>
                    <a:lnTo>
                      <a:pt x="6272" y="941233"/>
                    </a:lnTo>
                    <a:cubicBezTo>
                      <a:pt x="4608" y="941233"/>
                      <a:pt x="3013" y="940573"/>
                      <a:pt x="1837" y="939396"/>
                    </a:cubicBezTo>
                    <a:cubicBezTo>
                      <a:pt x="661" y="938220"/>
                      <a:pt x="0" y="936625"/>
                      <a:pt x="0" y="934962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543" cy="9793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-142875"/>
              <a:ext cx="10680572" cy="1088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79"/>
                </a:lnSpc>
                <a:spcBef>
                  <a:spcPct val="0"/>
                </a:spcBef>
              </a:pPr>
              <a:r>
                <a:rPr lang="en-US" sz="4699" spc="-305">
                  <a:solidFill>
                    <a:srgbClr val="474F51"/>
                  </a:solidFill>
                  <a:latin typeface="Telegraf"/>
                  <a:ea typeface="Telegraf"/>
                  <a:cs typeface="Telegraf"/>
                  <a:sym typeface="Telegraf"/>
                </a:rPr>
                <a:t>Implementation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704418" y="2491952"/>
            <a:ext cx="6292785" cy="7182762"/>
            <a:chOff x="0" y="0"/>
            <a:chExt cx="1657359" cy="18917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57359" cy="1891756"/>
            </a:xfrm>
            <a:custGeom>
              <a:avLst/>
              <a:gdLst/>
              <a:ahLst/>
              <a:cxnLst/>
              <a:rect r="r" b="b" t="t" l="l"/>
              <a:pathLst>
                <a:path h="1891756" w="1657359">
                  <a:moveTo>
                    <a:pt x="36909" y="0"/>
                  </a:moveTo>
                  <a:lnTo>
                    <a:pt x="1620451" y="0"/>
                  </a:lnTo>
                  <a:cubicBezTo>
                    <a:pt x="1640835" y="0"/>
                    <a:pt x="1657359" y="16525"/>
                    <a:pt x="1657359" y="36909"/>
                  </a:cubicBezTo>
                  <a:lnTo>
                    <a:pt x="1657359" y="1854847"/>
                  </a:lnTo>
                  <a:cubicBezTo>
                    <a:pt x="1657359" y="1864636"/>
                    <a:pt x="1653471" y="1874024"/>
                    <a:pt x="1646549" y="1880946"/>
                  </a:cubicBezTo>
                  <a:cubicBezTo>
                    <a:pt x="1639627" y="1887868"/>
                    <a:pt x="1630239" y="1891756"/>
                    <a:pt x="1620451" y="1891756"/>
                  </a:cubicBezTo>
                  <a:lnTo>
                    <a:pt x="36909" y="1891756"/>
                  </a:lnTo>
                  <a:cubicBezTo>
                    <a:pt x="16525" y="1891756"/>
                    <a:pt x="0" y="1875231"/>
                    <a:pt x="0" y="1854847"/>
                  </a:cubicBezTo>
                  <a:lnTo>
                    <a:pt x="0" y="36909"/>
                  </a:lnTo>
                  <a:cubicBezTo>
                    <a:pt x="0" y="16525"/>
                    <a:pt x="16525" y="0"/>
                    <a:pt x="369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A6A6A6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57359" cy="1929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1221408" y="2718341"/>
            <a:ext cx="978274" cy="978274"/>
          </a:xfrm>
          <a:custGeom>
            <a:avLst/>
            <a:gdLst/>
            <a:ahLst/>
            <a:cxnLst/>
            <a:rect r="r" b="b" t="t" l="l"/>
            <a:pathLst>
              <a:path h="978274" w="978274">
                <a:moveTo>
                  <a:pt x="0" y="0"/>
                </a:moveTo>
                <a:lnTo>
                  <a:pt x="978274" y="0"/>
                </a:lnTo>
                <a:lnTo>
                  <a:pt x="978274" y="978273"/>
                </a:lnTo>
                <a:lnTo>
                  <a:pt x="0" y="978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241468" y="3980417"/>
            <a:ext cx="958214" cy="958214"/>
          </a:xfrm>
          <a:custGeom>
            <a:avLst/>
            <a:gdLst/>
            <a:ahLst/>
            <a:cxnLst/>
            <a:rect r="r" b="b" t="t" l="l"/>
            <a:pathLst>
              <a:path h="958214" w="958214">
                <a:moveTo>
                  <a:pt x="0" y="0"/>
                </a:moveTo>
                <a:lnTo>
                  <a:pt x="958214" y="0"/>
                </a:lnTo>
                <a:lnTo>
                  <a:pt x="958214" y="958214"/>
                </a:lnTo>
                <a:lnTo>
                  <a:pt x="0" y="9582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269356" y="8182828"/>
            <a:ext cx="967693" cy="967693"/>
          </a:xfrm>
          <a:custGeom>
            <a:avLst/>
            <a:gdLst/>
            <a:ahLst/>
            <a:cxnLst/>
            <a:rect r="r" b="b" t="t" l="l"/>
            <a:pathLst>
              <a:path h="967693" w="967693">
                <a:moveTo>
                  <a:pt x="0" y="0"/>
                </a:moveTo>
                <a:lnTo>
                  <a:pt x="967693" y="0"/>
                </a:lnTo>
                <a:lnTo>
                  <a:pt x="967693" y="967692"/>
                </a:lnTo>
                <a:lnTo>
                  <a:pt x="0" y="967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241468" y="6825983"/>
            <a:ext cx="1023470" cy="1023470"/>
          </a:xfrm>
          <a:custGeom>
            <a:avLst/>
            <a:gdLst/>
            <a:ahLst/>
            <a:cxnLst/>
            <a:rect r="r" b="b" t="t" l="l"/>
            <a:pathLst>
              <a:path h="1023470" w="1023470">
                <a:moveTo>
                  <a:pt x="0" y="0"/>
                </a:moveTo>
                <a:lnTo>
                  <a:pt x="1023469" y="0"/>
                </a:lnTo>
                <a:lnTo>
                  <a:pt x="1023469" y="1023470"/>
                </a:lnTo>
                <a:lnTo>
                  <a:pt x="0" y="10234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810100" y="1446422"/>
            <a:ext cx="636303" cy="636303"/>
          </a:xfrm>
          <a:custGeom>
            <a:avLst/>
            <a:gdLst/>
            <a:ahLst/>
            <a:cxnLst/>
            <a:rect r="r" b="b" t="t" l="l"/>
            <a:pathLst>
              <a:path h="636303" w="636303">
                <a:moveTo>
                  <a:pt x="0" y="0"/>
                </a:moveTo>
                <a:lnTo>
                  <a:pt x="636303" y="0"/>
                </a:lnTo>
                <a:lnTo>
                  <a:pt x="636303" y="636303"/>
                </a:lnTo>
                <a:lnTo>
                  <a:pt x="0" y="6363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607380" y="5272845"/>
            <a:ext cx="2226390" cy="1267388"/>
          </a:xfrm>
          <a:custGeom>
            <a:avLst/>
            <a:gdLst/>
            <a:ahLst/>
            <a:cxnLst/>
            <a:rect r="r" b="b" t="t" l="l"/>
            <a:pathLst>
              <a:path h="1267388" w="2226390">
                <a:moveTo>
                  <a:pt x="0" y="0"/>
                </a:moveTo>
                <a:lnTo>
                  <a:pt x="2226390" y="0"/>
                </a:lnTo>
                <a:lnTo>
                  <a:pt x="2226390" y="1267388"/>
                </a:lnTo>
                <a:lnTo>
                  <a:pt x="0" y="1267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93726" y="2949036"/>
            <a:ext cx="31276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214277" y="2914223"/>
            <a:ext cx="31276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3726" y="6183114"/>
            <a:ext cx="31276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UPDATE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14277" y="6198580"/>
            <a:ext cx="312762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DELETE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3519281"/>
            <a:ext cx="3600991" cy="224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b="true" sz="1999" spc="-5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Asset Class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b="true" sz="1999" spc="-5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Investment Theme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b="true" sz="1999" spc="-5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Portfolio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b="true" sz="1999" spc="-5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Buy Transaction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b="true" sz="1999" spc="-5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Sell Transaction</a:t>
            </a:r>
          </a:p>
          <a:p>
            <a:pPr algn="l" marL="431797" indent="-215899" lvl="1">
              <a:lnSpc>
                <a:spcPts val="2399"/>
              </a:lnSpc>
              <a:buFont typeface="Arial"/>
              <a:buChar char="•"/>
            </a:pPr>
            <a:r>
              <a:rPr lang="en-US" b="true" sz="1999" spc="-59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Generate Portfolio Alerts</a:t>
            </a:r>
          </a:p>
          <a:p>
            <a:pPr algn="l">
              <a:lnSpc>
                <a:spcPts val="239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4751185" y="3448880"/>
            <a:ext cx="4078216" cy="249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Security Master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Portfolios , Charts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Holdings , Alerts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Transactions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Asset Allocation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Rebalancing Suggestions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Performance</a:t>
            </a:r>
          </a:p>
          <a:p>
            <a:pPr algn="l">
              <a:lnSpc>
                <a:spcPts val="2279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38713" y="6846776"/>
            <a:ext cx="3971133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Update Asset Class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Update Investment Theme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Activate Portfolio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Update Holdings after Buy/Sell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Update Available Balance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 Alerts as Read / Resolved</a:t>
            </a:r>
          </a:p>
          <a:p>
            <a:pPr algn="l" marL="410208" indent="-205104" lvl="1">
              <a:lnSpc>
                <a:spcPts val="2279"/>
              </a:lnSpc>
              <a:buFont typeface="Arial"/>
              <a:buChar char="•"/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Recalculate Allocation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51185" y="6722951"/>
            <a:ext cx="3788950" cy="212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</a:p>
          <a:p>
            <a:pPr algn="l" marL="399110" indent="-199555" lvl="1">
              <a:lnSpc>
                <a:spcPts val="2218"/>
              </a:lnSpc>
              <a:buFont typeface="Arial"/>
              <a:buChar char="•"/>
            </a:pPr>
            <a:r>
              <a:rPr lang="en-US" b="true" sz="1848" spc="-55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Deact</a:t>
            </a:r>
            <a:r>
              <a:rPr lang="en-US" b="true" sz="1848" spc="-55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ivate Asset Class</a:t>
            </a:r>
          </a:p>
          <a:p>
            <a:pPr algn="l" marL="399110" indent="-199555" lvl="1">
              <a:lnSpc>
                <a:spcPts val="2218"/>
              </a:lnSpc>
              <a:buFont typeface="Arial"/>
              <a:buChar char="•"/>
            </a:pPr>
            <a:r>
              <a:rPr lang="en-US" b="true" sz="1848" spc="-55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Deactivate Investment Theme</a:t>
            </a:r>
          </a:p>
          <a:p>
            <a:pPr algn="l" marL="399110" indent="-199555" lvl="1">
              <a:lnSpc>
                <a:spcPts val="2218"/>
              </a:lnSpc>
              <a:buFont typeface="Arial"/>
              <a:buChar char="•"/>
            </a:pPr>
            <a:r>
              <a:rPr lang="en-US" b="true" sz="1848" spc="-55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Remove holding after complete Sell</a:t>
            </a:r>
          </a:p>
          <a:p>
            <a:pPr algn="l" marL="399110" indent="-199555" lvl="1">
              <a:lnSpc>
                <a:spcPts val="2218"/>
              </a:lnSpc>
              <a:buFont typeface="Arial"/>
              <a:buChar char="•"/>
            </a:pPr>
            <a:r>
              <a:rPr lang="en-US" b="true" sz="1848" spc="-55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Resolve alerts when deviation returns within limit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551374" y="2914223"/>
            <a:ext cx="3127627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FRONTEND</a:t>
            </a:r>
          </a:p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 React + CSS 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47357" y="4245818"/>
            <a:ext cx="3127627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</a:t>
            </a:r>
          </a:p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 Python + FASTAPI 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74512" y="5566120"/>
            <a:ext cx="3127627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DATABASE</a:t>
            </a:r>
          </a:p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 Postgres SQL)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74512" y="7083158"/>
            <a:ext cx="3127627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API COMMUNICATION</a:t>
            </a:r>
          </a:p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 RestAPI + JSON 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51374" y="8350444"/>
            <a:ext cx="3127627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VALIDATION</a:t>
            </a:r>
          </a:p>
          <a:p>
            <a:pPr algn="ctr">
              <a:lnSpc>
                <a:spcPts val="2279"/>
              </a:lnSpc>
            </a:pPr>
            <a:r>
              <a:rPr lang="en-US" b="true" sz="1899" spc="-56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 Pydantic 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923" y="-148528"/>
            <a:ext cx="19097845" cy="1177228"/>
            <a:chOff x="0" y="0"/>
            <a:chExt cx="5029885" cy="310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885" cy="310052"/>
            </a:xfrm>
            <a:custGeom>
              <a:avLst/>
              <a:gdLst/>
              <a:ahLst/>
              <a:cxnLst/>
              <a:rect r="r" b="b" t="t" l="l"/>
              <a:pathLst>
                <a:path h="310052" w="5029885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F0828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97203" y="425242"/>
            <a:ext cx="262097" cy="174622"/>
          </a:xfrm>
          <a:custGeom>
            <a:avLst/>
            <a:gdLst/>
            <a:ahLst/>
            <a:cxnLst/>
            <a:rect r="r" b="b" t="t" l="l"/>
            <a:pathLst>
              <a:path h="174622" w="262097">
                <a:moveTo>
                  <a:pt x="0" y="0"/>
                </a:moveTo>
                <a:lnTo>
                  <a:pt x="262097" y="0"/>
                </a:lnTo>
                <a:lnTo>
                  <a:pt x="262097" y="174622"/>
                </a:lnTo>
                <a:lnTo>
                  <a:pt x="0" y="17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862707" y="4050424"/>
            <a:ext cx="6562586" cy="2186153"/>
            <a:chOff x="0" y="0"/>
            <a:chExt cx="8750115" cy="2914870"/>
          </a:xfrm>
        </p:grpSpPr>
        <p:grpSp>
          <p:nvGrpSpPr>
            <p:cNvPr name="Group 7" id="7"/>
            <p:cNvGrpSpPr/>
            <p:nvPr/>
          </p:nvGrpSpPr>
          <p:grpSpPr>
            <a:xfrm rot="-5400000">
              <a:off x="3894956" y="-3805490"/>
              <a:ext cx="63500" cy="7674480"/>
              <a:chOff x="0" y="0"/>
              <a:chExt cx="12543" cy="15159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543" cy="1515947"/>
              </a:xfrm>
              <a:custGeom>
                <a:avLst/>
                <a:gdLst/>
                <a:ahLst/>
                <a:cxnLst/>
                <a:rect r="r" b="b" t="t" l="l"/>
                <a:pathLst>
                  <a:path h="1515947" w="12543">
                    <a:moveTo>
                      <a:pt x="6272" y="0"/>
                    </a:moveTo>
                    <a:lnTo>
                      <a:pt x="6272" y="0"/>
                    </a:lnTo>
                    <a:cubicBezTo>
                      <a:pt x="7935" y="0"/>
                      <a:pt x="9530" y="661"/>
                      <a:pt x="10706" y="1837"/>
                    </a:cubicBezTo>
                    <a:cubicBezTo>
                      <a:pt x="11882" y="3013"/>
                      <a:pt x="12543" y="4608"/>
                      <a:pt x="12543" y="6272"/>
                    </a:cubicBezTo>
                    <a:lnTo>
                      <a:pt x="12543" y="1509675"/>
                    </a:lnTo>
                    <a:cubicBezTo>
                      <a:pt x="12543" y="1511338"/>
                      <a:pt x="11882" y="1512934"/>
                      <a:pt x="10706" y="1514110"/>
                    </a:cubicBezTo>
                    <a:cubicBezTo>
                      <a:pt x="9530" y="1515286"/>
                      <a:pt x="7935" y="1515947"/>
                      <a:pt x="6272" y="1515947"/>
                    </a:cubicBezTo>
                    <a:lnTo>
                      <a:pt x="6272" y="1515947"/>
                    </a:lnTo>
                    <a:cubicBezTo>
                      <a:pt x="4608" y="1515947"/>
                      <a:pt x="3013" y="1515286"/>
                      <a:pt x="1837" y="1514110"/>
                    </a:cubicBezTo>
                    <a:cubicBezTo>
                      <a:pt x="661" y="1512934"/>
                      <a:pt x="0" y="1511338"/>
                      <a:pt x="0" y="1509675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2543" cy="15540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5400000">
              <a:off x="3805490" y="-954119"/>
              <a:ext cx="63500" cy="7674480"/>
              <a:chOff x="0" y="0"/>
              <a:chExt cx="12543" cy="151594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1515947"/>
              </a:xfrm>
              <a:custGeom>
                <a:avLst/>
                <a:gdLst/>
                <a:ahLst/>
                <a:cxnLst/>
                <a:rect r="r" b="b" t="t" l="l"/>
                <a:pathLst>
                  <a:path h="1515947" w="12543">
                    <a:moveTo>
                      <a:pt x="6272" y="0"/>
                    </a:moveTo>
                    <a:lnTo>
                      <a:pt x="6272" y="0"/>
                    </a:lnTo>
                    <a:cubicBezTo>
                      <a:pt x="7935" y="0"/>
                      <a:pt x="9530" y="661"/>
                      <a:pt x="10706" y="1837"/>
                    </a:cubicBezTo>
                    <a:cubicBezTo>
                      <a:pt x="11882" y="3013"/>
                      <a:pt x="12543" y="4608"/>
                      <a:pt x="12543" y="6272"/>
                    </a:cubicBezTo>
                    <a:lnTo>
                      <a:pt x="12543" y="1509675"/>
                    </a:lnTo>
                    <a:cubicBezTo>
                      <a:pt x="12543" y="1511338"/>
                      <a:pt x="11882" y="1512934"/>
                      <a:pt x="10706" y="1514110"/>
                    </a:cubicBezTo>
                    <a:cubicBezTo>
                      <a:pt x="9530" y="1515286"/>
                      <a:pt x="7935" y="1515947"/>
                      <a:pt x="6272" y="1515947"/>
                    </a:cubicBezTo>
                    <a:lnTo>
                      <a:pt x="6272" y="1515947"/>
                    </a:lnTo>
                    <a:cubicBezTo>
                      <a:pt x="4608" y="1515947"/>
                      <a:pt x="3013" y="1515286"/>
                      <a:pt x="1837" y="1514110"/>
                    </a:cubicBezTo>
                    <a:cubicBezTo>
                      <a:pt x="661" y="1512934"/>
                      <a:pt x="0" y="1511338"/>
                      <a:pt x="0" y="1509675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5540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646032"/>
              <a:ext cx="8750115" cy="2060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15"/>
                </a:lnSpc>
              </a:pPr>
              <a:r>
                <a:rPr lang="en-US" sz="10615" spc="-721" b="true">
                  <a:solidFill>
                    <a:srgbClr val="1B1B1B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DAHVvuJysQg</dc:identifier>
  <dcterms:modified xsi:type="dcterms:W3CDTF">2011-08-01T06:04:30Z</dcterms:modified>
  <cp:revision>1</cp:revision>
  <dc:title>PORTFOLIO MANAGEMENT SYSTEM</dc:title>
</cp:coreProperties>
</file>